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01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34A6C-7EDF-1F99-630E-BFAE9C14EE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3A220A-9B21-C03F-357A-11852DBA21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0843A9-C2A7-9D0B-AAD7-3AE7ECEBC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31631-FAB7-4FC4-BB79-942D1374416B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5ED124-F9A6-4308-5A09-42B903891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B41EBA-3D94-6893-7D21-B03664139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03A4A-2A6A-4FF1-8438-1889827B38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960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3909F-1E1B-263B-7C17-DF76AA687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B85BD2-9590-4492-892A-7092980BCE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16E287-6BFE-C133-D353-C7F4AE131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31631-FAB7-4FC4-BB79-942D1374416B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D89522-2401-E51C-FA8B-88A48EAEF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2D9892-A7A0-8FF4-8458-098CA5871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03A4A-2A6A-4FF1-8438-1889827B38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1804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F0B3A-27B1-F933-B00A-4769D4C93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5460D6-0091-8142-BA39-663B50C908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D0D536-57A5-8F6F-CD08-F7DCD2D14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31631-FAB7-4FC4-BB79-942D1374416B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7934D5-BB6A-C0D4-9C2D-9AFA3E087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4BCEF-C6C8-5E16-A3D7-51E8F120F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03A4A-2A6A-4FF1-8438-1889827B38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9538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F4528-6E54-BBC8-4714-5F6C064C3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C0EEFC-FD7E-4A80-13C7-B231552CC0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DD3881-1F9E-ADC8-6937-8055856C4B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1014C0-A107-D9DE-5198-5465A5575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31631-FAB7-4FC4-BB79-942D1374416B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F51AA4-E3B5-75B0-A8E5-465B3C430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B392ED-82CD-A2F8-408B-B998F0D2C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03A4A-2A6A-4FF1-8438-1889827B38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715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9B97C-73C2-C795-5EA4-737037032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396429-1572-37F8-183A-A8A4DEB466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3B1B07-90EE-BDEC-0DD6-22166C8A0E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01E697-7944-4317-9EFC-21D9610CD2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F9332E-EC5C-4E64-0FF0-73147EE118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C5B9B5-B5CC-134A-0919-2F7D77FEE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31631-FAB7-4FC4-BB79-942D1374416B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3B7314-1377-5B00-04AA-513BC9240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01973B-AAAD-16CF-1228-106506DF5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03A4A-2A6A-4FF1-8438-1889827B38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3567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70E9B-1B98-340E-A79D-765803403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C5AE9E-CEBC-B685-22A2-D8CBFF5B5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31631-FAB7-4FC4-BB79-942D1374416B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124A15-1895-76C2-57D7-4C0CAA92C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6DD0EF-79D9-5669-FA41-CDD48AD34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03A4A-2A6A-4FF1-8438-1889827B38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755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2CB419-C618-7852-8D3C-3EEACA054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31631-FAB7-4FC4-BB79-942D1374416B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72B9DA-5207-9F97-1209-CEF729A7C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8D229B-224E-2B09-890E-E3C74ADB8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03A4A-2A6A-4FF1-8438-1889827B38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3689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C949D-FDFD-053F-2EAD-C774F4E9A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67E382-C6D8-BCE5-EECE-60FA1BE3B3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06F016-A3F4-95B2-CFF1-D214C9B55F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CBB61A-CED2-A068-2318-F7EB43A5D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31631-FAB7-4FC4-BB79-942D1374416B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96FED2-F550-CA8A-1874-1CB71360C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40D7E2-7B73-1BDC-498D-7E28D8C61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03A4A-2A6A-4FF1-8438-1889827B38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43638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346EC-A94F-534C-0B13-A1F07B596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98DE90-3F02-A5A9-560D-8D9D7DE8F23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7806F0-2484-16A6-4C9A-245541E814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994DEE-19C9-AF7C-C477-30BE2F6C5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31631-FAB7-4FC4-BB79-942D1374416B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9C3DC2-F415-00C7-FA45-7096E7B09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CC4CCC-42FF-99C1-3DDA-CE6880DA2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03A4A-2A6A-4FF1-8438-1889827B38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9886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793DE-3409-C686-B213-6AF91F08A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AD8E84-CDE3-1025-71BC-BED2CEC2E4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C69DBB-692F-13EA-EE1E-B9629102F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31631-FAB7-4FC4-BB79-942D1374416B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FFEED5-39F5-F19C-4FBD-DA610FAD2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09EB69-5B76-9215-5694-D6AF561ED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03A4A-2A6A-4FF1-8438-1889827B38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83465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DF78FF-629E-44BA-20E6-A7FD803B54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DE07EF-3B48-2077-B17A-D4966AE773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3063C6-24B7-9F12-CB42-0D3688734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31631-FAB7-4FC4-BB79-942D1374416B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CA2360-4463-1BA6-15DB-1593D0306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4E4133-6EBD-9107-3423-7D9EEE834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03A4A-2A6A-4FF1-8438-1889827B38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7276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85BEF3-B141-F5B6-2A42-E04EE4929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05B9B0-1275-DCA3-19F9-960EA49A8B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C2376B-1EFA-62DB-81BA-ADD16E7E71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831631-FAB7-4FC4-BB79-942D1374416B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26C135-E36E-97B1-4BCE-DDCA0D0FFA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7D6872-3D25-8A5B-23D8-F000FE7A1D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703A4A-2A6A-4FF1-8438-1889827B38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1515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EC8E48B-BC80-7FE8-581D-4C4BDA01716F}"/>
              </a:ext>
            </a:extLst>
          </p:cNvPr>
          <p:cNvSpPr/>
          <p:nvPr/>
        </p:nvSpPr>
        <p:spPr>
          <a:xfrm>
            <a:off x="609600" y="1905000"/>
            <a:ext cx="812800" cy="76200"/>
          </a:xfrm>
          <a:prstGeom prst="rect">
            <a:avLst/>
          </a:prstGeom>
          <a:solidFill>
            <a:srgbClr val="0E7C7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773105-29D5-9AC8-94BF-37B532E27DC7}"/>
              </a:ext>
            </a:extLst>
          </p:cNvPr>
          <p:cNvSpPr txBox="1"/>
          <p:nvPr/>
        </p:nvSpPr>
        <p:spPr>
          <a:xfrm>
            <a:off x="609600" y="2184400"/>
            <a:ext cx="10972800" cy="889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5400" b="1">
                <a:solidFill>
                  <a:srgbClr val="FFFFFF"/>
                </a:solidFill>
                <a:latin typeface="Segoe UI" panose="020B0502040204020203" pitchFamily="34" charset="0"/>
              </a:rPr>
              <a:t>ClinicIQ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038224-347E-28BE-783D-805A901C52E5}"/>
              </a:ext>
            </a:extLst>
          </p:cNvPr>
          <p:cNvSpPr txBox="1"/>
          <p:nvPr/>
        </p:nvSpPr>
        <p:spPr>
          <a:xfrm>
            <a:off x="609600" y="3149600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>
                <a:solidFill>
                  <a:srgbClr val="D5DEE8"/>
                </a:solidFill>
                <a:latin typeface="Segoe UI" panose="020B0502040204020203" pitchFamily="34" charset="0"/>
              </a:rPr>
              <a:t>Clinic intelligence and outreach drafting for Australian GP practices</a:t>
            </a:r>
            <a:endParaRPr lang="en-IN" sz="2000">
              <a:solidFill>
                <a:srgbClr val="D5DEE8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0D3445-00EE-21BF-945B-39B72E28143D}"/>
              </a:ext>
            </a:extLst>
          </p:cNvPr>
          <p:cNvSpPr txBox="1"/>
          <p:nvPr/>
        </p:nvSpPr>
        <p:spPr>
          <a:xfrm>
            <a:off x="609600" y="4191000"/>
            <a:ext cx="109728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7FD6D2"/>
                </a:solidFill>
                <a:latin typeface="Segoe UI" panose="020B0502040204020203" pitchFamily="34" charset="0"/>
              </a:rPr>
              <a:t>AI Growth &amp; Automation Associate  |  Task 1: AI Skills &amp; Prompt Engineering</a:t>
            </a:r>
            <a:endParaRPr lang="en-IN" sz="1400">
              <a:solidFill>
                <a:srgbClr val="7FD6D2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A263C0-A7BC-3F8C-20B1-497E37FF676D}"/>
              </a:ext>
            </a:extLst>
          </p:cNvPr>
          <p:cNvSpPr txBox="1"/>
          <p:nvPr/>
        </p:nvSpPr>
        <p:spPr>
          <a:xfrm>
            <a:off x="609600" y="4495800"/>
            <a:ext cx="109728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400">
                <a:solidFill>
                  <a:srgbClr val="7FD6D2"/>
                </a:solidFill>
                <a:latin typeface="Segoe UI" panose="020B0502040204020203" pitchFamily="34" charset="0"/>
              </a:rPr>
              <a:t>Gokul Infocare Pty Ltd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FE35D8-B1DD-F111-E194-1B478E1C15A6}"/>
              </a:ext>
            </a:extLst>
          </p:cNvPr>
          <p:cNvSpPr txBox="1"/>
          <p:nvPr/>
        </p:nvSpPr>
        <p:spPr>
          <a:xfrm>
            <a:off x="609600" y="5969000"/>
            <a:ext cx="109728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300">
                <a:solidFill>
                  <a:srgbClr val="D5DEE8"/>
                </a:solidFill>
                <a:latin typeface="Segoe UI" panose="020B0502040204020203" pitchFamily="34" charset="0"/>
              </a:rPr>
              <a:t>Pandu R S D Srinivas Akula  |  October 2026</a:t>
            </a:r>
            <a:endParaRPr lang="en-IN" sz="1300">
              <a:solidFill>
                <a:srgbClr val="D5DEE8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3693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5B09354-CBA7-3BFD-7FC4-1D5B4D9FD8CA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0E7C7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C85020-37E0-E14F-144E-6C18F0196A73}"/>
              </a:ext>
            </a:extLst>
          </p:cNvPr>
          <p:cNvSpPr txBox="1"/>
          <p:nvPr/>
        </p:nvSpPr>
        <p:spPr>
          <a:xfrm>
            <a:off x="609600" y="330200"/>
            <a:ext cx="8890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200" b="1">
                <a:solidFill>
                  <a:srgbClr val="0E7C7B"/>
                </a:solidFill>
                <a:latin typeface="Segoe UI" panose="020B0502040204020203" pitchFamily="34" charset="0"/>
              </a:rPr>
              <a:t>OVERVIEW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8E95A7-B5F8-84D8-2E75-5544C7FB86B0}"/>
              </a:ext>
            </a:extLst>
          </p:cNvPr>
          <p:cNvSpPr txBox="1"/>
          <p:nvPr/>
        </p:nvSpPr>
        <p:spPr>
          <a:xfrm>
            <a:off x="609600" y="584200"/>
            <a:ext cx="10972800" cy="558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2800" b="1">
                <a:solidFill>
                  <a:srgbClr val="0F1F2E"/>
                </a:solidFill>
                <a:latin typeface="Segoe UI" panose="020B0502040204020203" pitchFamily="34" charset="0"/>
              </a:rPr>
              <a:t>What the project does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391A75A-956D-902D-A248-E31D3CF1B438}"/>
              </a:ext>
            </a:extLst>
          </p:cNvPr>
          <p:cNvSpPr/>
          <p:nvPr/>
        </p:nvSpPr>
        <p:spPr>
          <a:xfrm>
            <a:off x="609600" y="1498600"/>
            <a:ext cx="6604000" cy="431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6B2987-EF1A-9427-FDA1-CB44D4986EE8}"/>
              </a:ext>
            </a:extLst>
          </p:cNvPr>
          <p:cNvSpPr txBox="1"/>
          <p:nvPr/>
        </p:nvSpPr>
        <p:spPr>
          <a:xfrm>
            <a:off x="838200" y="1676400"/>
            <a:ext cx="61468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600" b="1">
                <a:solidFill>
                  <a:srgbClr val="0F1F2E"/>
                </a:solidFill>
                <a:latin typeface="Segoe UI" panose="020B0502040204020203" pitchFamily="34" charset="0"/>
              </a:rPr>
              <a:t>In short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F82E6E-3BC8-5C53-B046-73B92EB32895}"/>
              </a:ext>
            </a:extLst>
          </p:cNvPr>
          <p:cNvSpPr txBox="1"/>
          <p:nvPr/>
        </p:nvSpPr>
        <p:spPr>
          <a:xfrm>
            <a:off x="838200" y="2082800"/>
            <a:ext cx="6146800" cy="3581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177800" indent="-177800">
              <a:spcAft>
                <a:spcPts val="700"/>
              </a:spcAft>
              <a:buFont typeface="+mj-lt"/>
              <a:buChar char="•"/>
            </a:pPr>
            <a:r>
              <a:rPr lang="en-US" sz="1400">
                <a:solidFill>
                  <a:srgbClr val="14202E"/>
                </a:solidFill>
                <a:latin typeface="Segoe UI" panose="020B0502040204020203" pitchFamily="34" charset="0"/>
              </a:rPr>
              <a:t>Reads publicly available details from Australian GP clinic websites: phone, state, postcode, billing model, opening hours and telehealth.</a:t>
            </a:r>
          </a:p>
          <a:p>
            <a:pPr marL="177800" indent="-177800">
              <a:spcAft>
                <a:spcPts val="700"/>
              </a:spcAft>
              <a:buFont typeface="+mj-lt"/>
              <a:buChar char="•"/>
            </a:pPr>
            <a:r>
              <a:rPr lang="en-US" sz="1400">
                <a:solidFill>
                  <a:srgbClr val="14202E"/>
                </a:solidFill>
                <a:latin typeface="Segoe UI" panose="020B0502040204020203" pitchFamily="34" charset="0"/>
              </a:rPr>
              <a:t>Scores each clinic as a lead and lists possible operational gaps.</a:t>
            </a:r>
          </a:p>
          <a:p>
            <a:pPr marL="177800" indent="-177800">
              <a:spcAft>
                <a:spcPts val="700"/>
              </a:spcAft>
              <a:buFont typeface="+mj-lt"/>
              <a:buChar char="•"/>
            </a:pPr>
            <a:r>
              <a:rPr lang="en-US" sz="1400">
                <a:solidFill>
                  <a:srgbClr val="14202E"/>
                </a:solidFill>
                <a:latin typeface="Segoe UI" panose="020B0502040204020203" pitchFamily="34" charset="0"/>
              </a:rPr>
              <a:t>Drafts an outreach email and a day-3 follow-up for three campaign types: GP recruitment, front-desk automation and allied health.</a:t>
            </a:r>
          </a:p>
          <a:p>
            <a:pPr marL="177800" indent="-177800">
              <a:spcAft>
                <a:spcPts val="700"/>
              </a:spcAft>
              <a:buFont typeface="+mj-lt"/>
              <a:buChar char="•"/>
            </a:pPr>
            <a:r>
              <a:rPr lang="en-US" sz="1400">
                <a:solidFill>
                  <a:srgbClr val="14202E"/>
                </a:solidFill>
                <a:latin typeface="Segoe UI" panose="020B0502040204020203" pitchFamily="34" charset="0"/>
              </a:rPr>
              <a:t>Shows everything in a Streamlit dashboard with filters, charts and exports.</a:t>
            </a:r>
            <a:endParaRPr lang="en-IN" sz="1400">
              <a:solidFill>
                <a:srgbClr val="14202E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FF3484A-70A4-45F4-0096-97AB51761C39}"/>
              </a:ext>
            </a:extLst>
          </p:cNvPr>
          <p:cNvSpPr/>
          <p:nvPr/>
        </p:nvSpPr>
        <p:spPr>
          <a:xfrm>
            <a:off x="7467600" y="1498600"/>
            <a:ext cx="4114800" cy="431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5BA1BF-C0D4-A71B-502A-621FE786A3A1}"/>
              </a:ext>
            </a:extLst>
          </p:cNvPr>
          <p:cNvSpPr txBox="1"/>
          <p:nvPr/>
        </p:nvSpPr>
        <p:spPr>
          <a:xfrm>
            <a:off x="7696200" y="1676400"/>
            <a:ext cx="36576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600" b="1">
                <a:solidFill>
                  <a:srgbClr val="0F1F2E"/>
                </a:solidFill>
                <a:latin typeface="Segoe UI" panose="020B0502040204020203" pitchFamily="34" charset="0"/>
              </a:rPr>
              <a:t>This presentation covers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7B23D5-77F0-0D60-06E0-80311141C93B}"/>
              </a:ext>
            </a:extLst>
          </p:cNvPr>
          <p:cNvSpPr txBox="1"/>
          <p:nvPr/>
        </p:nvSpPr>
        <p:spPr>
          <a:xfrm>
            <a:off x="7696200" y="2082800"/>
            <a:ext cx="3657600" cy="3581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en-US" sz="1400">
                <a:solidFill>
                  <a:srgbClr val="14202E"/>
                </a:solidFill>
                <a:latin typeface="Segoe UI" panose="020B0502040204020203" pitchFamily="34" charset="0"/>
              </a:rPr>
              <a:t>1.  AI tools I used</a:t>
            </a:r>
          </a:p>
          <a:p>
            <a:pPr>
              <a:spcAft>
                <a:spcPts val="700"/>
              </a:spcAft>
            </a:pPr>
            <a:r>
              <a:rPr lang="en-US" sz="1400">
                <a:solidFill>
                  <a:srgbClr val="14202E"/>
                </a:solidFill>
                <a:latin typeface="Segoe UI" panose="020B0502040204020203" pitchFamily="34" charset="0"/>
              </a:rPr>
              <a:t>2.  Prompt engineering</a:t>
            </a:r>
          </a:p>
          <a:p>
            <a:pPr>
              <a:spcAft>
                <a:spcPts val="700"/>
              </a:spcAft>
            </a:pPr>
            <a:r>
              <a:rPr lang="en-US" sz="1400">
                <a:solidFill>
                  <a:srgbClr val="14202E"/>
                </a:solidFill>
                <a:latin typeface="Segoe UI" panose="020B0502040204020203" pitchFamily="34" charset="0"/>
              </a:rPr>
              <a:t>3.  My approach</a:t>
            </a:r>
          </a:p>
          <a:p>
            <a:pPr>
              <a:spcAft>
                <a:spcPts val="700"/>
              </a:spcAft>
            </a:pPr>
            <a:r>
              <a:rPr lang="en-US" sz="1400">
                <a:solidFill>
                  <a:srgbClr val="14202E"/>
                </a:solidFill>
                <a:latin typeface="Segoe UI" panose="020B0502040204020203" pitchFamily="34" charset="0"/>
              </a:rPr>
              <a:t>4.  Challenges and how I handled them</a:t>
            </a:r>
          </a:p>
          <a:p>
            <a:pPr>
              <a:spcAft>
                <a:spcPts val="700"/>
              </a:spcAft>
            </a:pPr>
            <a:r>
              <a:rPr lang="en-US" sz="1400">
                <a:solidFill>
                  <a:srgbClr val="14202E"/>
                </a:solidFill>
                <a:latin typeface="Segoe UI" panose="020B0502040204020203" pitchFamily="34" charset="0"/>
              </a:rPr>
              <a:t>5.  Final outcome</a:t>
            </a:r>
            <a:endParaRPr lang="en-IN" sz="1400">
              <a:solidFill>
                <a:srgbClr val="14202E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40343E-C4FA-F4A2-EDDF-61348E6EFC52}"/>
              </a:ext>
            </a:extLst>
          </p:cNvPr>
          <p:cNvSpPr txBox="1"/>
          <p:nvPr/>
        </p:nvSpPr>
        <p:spPr>
          <a:xfrm>
            <a:off x="609600" y="6502400"/>
            <a:ext cx="63500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000">
                <a:solidFill>
                  <a:srgbClr val="455567"/>
                </a:solidFill>
                <a:latin typeface="Segoe UI" panose="020B0502040204020203" pitchFamily="34" charset="0"/>
              </a:rPr>
              <a:t>ClinicIQ  |  AI Growth &amp; Automation Associate task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EE6ED5-EE0B-879D-9FF9-325739BB2A6E}"/>
              </a:ext>
            </a:extLst>
          </p:cNvPr>
          <p:cNvSpPr txBox="1"/>
          <p:nvPr/>
        </p:nvSpPr>
        <p:spPr>
          <a:xfrm>
            <a:off x="10972800" y="6502400"/>
            <a:ext cx="6096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IN" sz="1000">
                <a:solidFill>
                  <a:srgbClr val="455567"/>
                </a:solidFill>
                <a:latin typeface="Segoe UI" panose="020B0502040204020203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20204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DB1F746-33CD-4B63-3CF3-F1CD8F894165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0E7C7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F1E771-C04D-EE9A-19B8-DCBF5145114B}"/>
              </a:ext>
            </a:extLst>
          </p:cNvPr>
          <p:cNvSpPr txBox="1"/>
          <p:nvPr/>
        </p:nvSpPr>
        <p:spPr>
          <a:xfrm>
            <a:off x="609600" y="330200"/>
            <a:ext cx="8890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200" b="1">
                <a:solidFill>
                  <a:srgbClr val="0E7C7B"/>
                </a:solidFill>
                <a:latin typeface="Segoe UI" panose="020B0502040204020203" pitchFamily="34" charset="0"/>
              </a:rPr>
              <a:t>1  |  AI TOOLS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57C27B-E6D6-6A9B-79A0-B5E52B253DCE}"/>
              </a:ext>
            </a:extLst>
          </p:cNvPr>
          <p:cNvSpPr txBox="1"/>
          <p:nvPr/>
        </p:nvSpPr>
        <p:spPr>
          <a:xfrm>
            <a:off x="609600" y="584200"/>
            <a:ext cx="10972800" cy="558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800" b="1">
                <a:solidFill>
                  <a:srgbClr val="0F1F2E"/>
                </a:solidFill>
                <a:latin typeface="Segoe UI" panose="020B0502040204020203" pitchFamily="34" charset="0"/>
              </a:rPr>
              <a:t>Which AI tools I used, and why</a:t>
            </a:r>
            <a:endParaRPr lang="en-IN" sz="2800" b="1">
              <a:solidFill>
                <a:srgbClr val="0F1F2E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EDE285C-4D6E-9D0A-E2E3-4A406963D460}"/>
              </a:ext>
            </a:extLst>
          </p:cNvPr>
          <p:cNvSpPr/>
          <p:nvPr/>
        </p:nvSpPr>
        <p:spPr>
          <a:xfrm>
            <a:off x="609600" y="1498600"/>
            <a:ext cx="3454400" cy="3022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4A970B-6C67-F751-0058-0150684FE7AA}"/>
              </a:ext>
            </a:extLst>
          </p:cNvPr>
          <p:cNvSpPr txBox="1"/>
          <p:nvPr/>
        </p:nvSpPr>
        <p:spPr>
          <a:xfrm>
            <a:off x="838200" y="1676400"/>
            <a:ext cx="29972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600" b="1">
                <a:solidFill>
                  <a:srgbClr val="0F1F2E"/>
                </a:solidFill>
                <a:latin typeface="Segoe UI" panose="020B0502040204020203" pitchFamily="34" charset="0"/>
              </a:rPr>
              <a:t>Antigravity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9DF1AF-311A-6DD7-5C9E-98A673AFC8E4}"/>
              </a:ext>
            </a:extLst>
          </p:cNvPr>
          <p:cNvSpPr txBox="1"/>
          <p:nvPr/>
        </p:nvSpPr>
        <p:spPr>
          <a:xfrm>
            <a:off x="838200" y="2082800"/>
            <a:ext cx="2997200" cy="2286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US" sz="1100" b="1">
                <a:solidFill>
                  <a:srgbClr val="0A5F5E"/>
                </a:solidFill>
                <a:latin typeface="Segoe UI" panose="020B0502040204020203" pitchFamily="34" charset="0"/>
              </a:rPr>
              <a:t>Used for</a:t>
            </a:r>
          </a:p>
          <a:p>
            <a:pPr>
              <a:spcAft>
                <a:spcPts val="700"/>
              </a:spcAft>
            </a:pPr>
            <a:r>
              <a:rPr lang="en-US" sz="1200">
                <a:solidFill>
                  <a:srgbClr val="14202E"/>
                </a:solidFill>
                <a:latin typeface="Segoe UI" panose="020B0502040204020203" pitchFamily="34" charset="0"/>
              </a:rPr>
              <a:t>Code generation and project folder structure.</a:t>
            </a:r>
          </a:p>
          <a:p>
            <a:pPr>
              <a:spcAft>
                <a:spcPts val="200"/>
              </a:spcAft>
            </a:pPr>
            <a:r>
              <a:rPr lang="en-US" sz="1100" b="1">
                <a:solidFill>
                  <a:srgbClr val="0A5F5E"/>
                </a:solidFill>
                <a:latin typeface="Segoe UI" panose="020B0502040204020203" pitchFamily="34" charset="0"/>
              </a:rPr>
              <a:t>Why I chose it</a:t>
            </a:r>
          </a:p>
          <a:p>
            <a:pPr>
              <a:spcAft>
                <a:spcPts val="700"/>
              </a:spcAft>
            </a:pPr>
            <a:r>
              <a:rPr lang="en-US" sz="1200">
                <a:solidFill>
                  <a:srgbClr val="14202E"/>
                </a:solidFill>
                <a:latin typeface="Segoe UI" panose="020B0502040204020203" pitchFamily="34" charset="0"/>
              </a:rPr>
              <a:t>An agent that worked efficiently and accurately for this project compared with the alternatives I tried.</a:t>
            </a:r>
            <a:endParaRPr lang="en-IN" sz="1200">
              <a:solidFill>
                <a:srgbClr val="14202E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7413391-B882-B379-F3A8-84FCACD23883}"/>
              </a:ext>
            </a:extLst>
          </p:cNvPr>
          <p:cNvSpPr/>
          <p:nvPr/>
        </p:nvSpPr>
        <p:spPr>
          <a:xfrm>
            <a:off x="4368800" y="1498600"/>
            <a:ext cx="3454400" cy="3022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1B4F16-E970-770F-14C2-E3FDAC49FA33}"/>
              </a:ext>
            </a:extLst>
          </p:cNvPr>
          <p:cNvSpPr txBox="1"/>
          <p:nvPr/>
        </p:nvSpPr>
        <p:spPr>
          <a:xfrm>
            <a:off x="4597400" y="1676400"/>
            <a:ext cx="29972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600" b="1">
                <a:solidFill>
                  <a:srgbClr val="0F1F2E"/>
                </a:solidFill>
                <a:latin typeface="Segoe UI" panose="020B0502040204020203" pitchFamily="34" charset="0"/>
              </a:rPr>
              <a:t>Claude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84728C-F930-8213-8699-E4F59E167595}"/>
              </a:ext>
            </a:extLst>
          </p:cNvPr>
          <p:cNvSpPr txBox="1"/>
          <p:nvPr/>
        </p:nvSpPr>
        <p:spPr>
          <a:xfrm>
            <a:off x="4597400" y="2082800"/>
            <a:ext cx="2997200" cy="2286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US" sz="1100" b="1">
                <a:solidFill>
                  <a:srgbClr val="0A5F5E"/>
                </a:solidFill>
                <a:latin typeface="Segoe UI" panose="020B0502040204020203" pitchFamily="34" charset="0"/>
              </a:rPr>
              <a:t>Used for</a:t>
            </a:r>
          </a:p>
          <a:p>
            <a:pPr>
              <a:spcAft>
                <a:spcPts val="700"/>
              </a:spcAft>
            </a:pPr>
            <a:r>
              <a:rPr lang="en-US" sz="1200">
                <a:solidFill>
                  <a:srgbClr val="14202E"/>
                </a:solidFill>
                <a:latin typeface="Segoe UI" panose="020B0502040204020203" pitchFamily="34" charset="0"/>
              </a:rPr>
              <a:t>Redesigning the Streamlit dashboard, fixing readability issues, and writing the code that builds this presentation.</a:t>
            </a:r>
          </a:p>
          <a:p>
            <a:pPr>
              <a:spcAft>
                <a:spcPts val="200"/>
              </a:spcAft>
            </a:pPr>
            <a:r>
              <a:rPr lang="en-US" sz="1100" b="1">
                <a:solidFill>
                  <a:srgbClr val="0A5F5E"/>
                </a:solidFill>
                <a:latin typeface="Segoe UI" panose="020B0502040204020203" pitchFamily="34" charset="0"/>
              </a:rPr>
              <a:t>Why I chose it</a:t>
            </a:r>
          </a:p>
          <a:p>
            <a:pPr>
              <a:spcAft>
                <a:spcPts val="700"/>
              </a:spcAft>
            </a:pPr>
            <a:r>
              <a:rPr lang="en-US" sz="1200">
                <a:solidFill>
                  <a:srgbClr val="14202E"/>
                </a:solidFill>
                <a:latin typeface="Segoe UI" panose="020B0502040204020203" pitchFamily="34" charset="0"/>
              </a:rPr>
              <a:t>Useful for understanding existing code, making targeted updates and improving the implementation.</a:t>
            </a:r>
            <a:endParaRPr lang="en-IN" sz="1200">
              <a:solidFill>
                <a:srgbClr val="14202E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6670EFD-735D-966A-589D-DCAE1E7BE60B}"/>
              </a:ext>
            </a:extLst>
          </p:cNvPr>
          <p:cNvSpPr/>
          <p:nvPr/>
        </p:nvSpPr>
        <p:spPr>
          <a:xfrm>
            <a:off x="8128000" y="1498600"/>
            <a:ext cx="3454400" cy="3022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393212-17DE-3F96-3A17-125FEB63EC04}"/>
              </a:ext>
            </a:extLst>
          </p:cNvPr>
          <p:cNvSpPr txBox="1"/>
          <p:nvPr/>
        </p:nvSpPr>
        <p:spPr>
          <a:xfrm>
            <a:off x="8356600" y="1676400"/>
            <a:ext cx="29972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600" b="1">
                <a:solidFill>
                  <a:srgbClr val="0F1F2E"/>
                </a:solidFill>
                <a:latin typeface="Segoe UI" panose="020B0502040204020203" pitchFamily="34" charset="0"/>
              </a:rPr>
              <a:t>ChatGPT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D06F97D-8091-A1E6-DE19-46FBB61F2236}"/>
              </a:ext>
            </a:extLst>
          </p:cNvPr>
          <p:cNvSpPr txBox="1"/>
          <p:nvPr/>
        </p:nvSpPr>
        <p:spPr>
          <a:xfrm>
            <a:off x="8356600" y="2082800"/>
            <a:ext cx="2997200" cy="2286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US" sz="1100" b="1">
                <a:solidFill>
                  <a:srgbClr val="0A5F5E"/>
                </a:solidFill>
                <a:latin typeface="Segoe UI" panose="020B0502040204020203" pitchFamily="34" charset="0"/>
              </a:rPr>
              <a:t>Used for</a:t>
            </a:r>
          </a:p>
          <a:p>
            <a:pPr>
              <a:spcAft>
                <a:spcPts val="700"/>
              </a:spcAft>
            </a:pPr>
            <a:r>
              <a:rPr lang="en-US" sz="1200">
                <a:solidFill>
                  <a:srgbClr val="14202E"/>
                </a:solidFill>
                <a:latin typeface="Segoe UI" panose="020B0502040204020203" pitchFamily="34" charset="0"/>
              </a:rPr>
              <a:t>Code generation, previews, suggestions and updating existing code or methods.</a:t>
            </a:r>
          </a:p>
          <a:p>
            <a:pPr>
              <a:spcAft>
                <a:spcPts val="200"/>
              </a:spcAft>
            </a:pPr>
            <a:r>
              <a:rPr lang="en-US" sz="1100" b="1">
                <a:solidFill>
                  <a:srgbClr val="0A5F5E"/>
                </a:solidFill>
                <a:latin typeface="Segoe UI" panose="020B0502040204020203" pitchFamily="34" charset="0"/>
              </a:rPr>
              <a:t>Why I chose it</a:t>
            </a:r>
          </a:p>
          <a:p>
            <a:pPr>
              <a:spcAft>
                <a:spcPts val="700"/>
              </a:spcAft>
            </a:pPr>
            <a:r>
              <a:rPr lang="en-US" sz="1200">
                <a:solidFill>
                  <a:srgbClr val="14202E"/>
                </a:solidFill>
                <a:latin typeface="Segoe UI" panose="020B0502040204020203" pitchFamily="34" charset="0"/>
              </a:rPr>
              <a:t>To quickly review previews and compare alternative approaches before choosing a solution.</a:t>
            </a:r>
            <a:endParaRPr lang="en-IN" sz="1200">
              <a:solidFill>
                <a:srgbClr val="14202E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4343D24-13EC-6FAE-E0D1-724A05CCAF10}"/>
              </a:ext>
            </a:extLst>
          </p:cNvPr>
          <p:cNvSpPr/>
          <p:nvPr/>
        </p:nvSpPr>
        <p:spPr>
          <a:xfrm>
            <a:off x="609600" y="4724400"/>
            <a:ext cx="10972800" cy="1524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594666F-535A-94EF-648E-0AE994CCF09F}"/>
              </a:ext>
            </a:extLst>
          </p:cNvPr>
          <p:cNvSpPr txBox="1"/>
          <p:nvPr/>
        </p:nvSpPr>
        <p:spPr>
          <a:xfrm>
            <a:off x="838200" y="4902200"/>
            <a:ext cx="105156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600" b="1">
                <a:solidFill>
                  <a:srgbClr val="0F1F2E"/>
                </a:solidFill>
                <a:latin typeface="Segoe UI" panose="020B0502040204020203" pitchFamily="34" charset="0"/>
              </a:rPr>
              <a:t>Inside the application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68A75A6-3636-7ABC-CF02-6AA1B71BA85C}"/>
              </a:ext>
            </a:extLst>
          </p:cNvPr>
          <p:cNvSpPr txBox="1"/>
          <p:nvPr/>
        </p:nvSpPr>
        <p:spPr>
          <a:xfrm>
            <a:off x="838200" y="5308600"/>
            <a:ext cx="10515600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endParaRPr lang="en-US" sz="1200" dirty="0">
              <a:solidFill>
                <a:srgbClr val="14202E"/>
              </a:solidFill>
              <a:latin typeface="Segoe UI" panose="020B0502040204020203" pitchFamily="34" charset="0"/>
            </a:endParaRPr>
          </a:p>
          <a:p>
            <a:pPr marL="177800" indent="-177800">
              <a:spcAft>
                <a:spcPts val="700"/>
              </a:spcAft>
              <a:buFont typeface="+mj-lt"/>
              <a:buChar char="•"/>
            </a:pPr>
            <a:r>
              <a:rPr lang="en-US" sz="1200" dirty="0">
                <a:solidFill>
                  <a:srgbClr val="14202E"/>
                </a:solidFill>
                <a:latin typeface="Segoe UI" panose="020B0502040204020203" pitchFamily="34" charset="0"/>
              </a:rPr>
              <a:t>Libraries: Python, </a:t>
            </a:r>
            <a:r>
              <a:rPr lang="en-US" sz="1200" dirty="0" err="1">
                <a:solidFill>
                  <a:srgbClr val="14202E"/>
                </a:solidFill>
                <a:latin typeface="Segoe UI" panose="020B0502040204020203" pitchFamily="34" charset="0"/>
              </a:rPr>
              <a:t>Streamlit</a:t>
            </a:r>
            <a:r>
              <a:rPr lang="en-US" sz="1200" dirty="0">
                <a:solidFill>
                  <a:srgbClr val="14202E"/>
                </a:solidFill>
                <a:latin typeface="Segoe UI" panose="020B0502040204020203" pitchFamily="34" charset="0"/>
              </a:rPr>
              <a:t>, Requests, </a:t>
            </a:r>
            <a:r>
              <a:rPr lang="en-US" sz="1200" dirty="0" err="1">
                <a:solidFill>
                  <a:srgbClr val="14202E"/>
                </a:solidFill>
                <a:latin typeface="Segoe UI" panose="020B0502040204020203" pitchFamily="34" charset="0"/>
              </a:rPr>
              <a:t>BeautifulSoup</a:t>
            </a:r>
            <a:r>
              <a:rPr lang="en-US" sz="1200" dirty="0">
                <a:solidFill>
                  <a:srgbClr val="14202E"/>
                </a:solidFill>
                <a:latin typeface="Segoe UI" panose="020B0502040204020203" pitchFamily="34" charset="0"/>
              </a:rPr>
              <a:t> and Pandas.</a:t>
            </a:r>
            <a:endParaRPr lang="en-IN" sz="1200" dirty="0">
              <a:solidFill>
                <a:srgbClr val="14202E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D1BCBBF-2479-F35F-906C-171198AFAAC9}"/>
              </a:ext>
            </a:extLst>
          </p:cNvPr>
          <p:cNvSpPr txBox="1"/>
          <p:nvPr/>
        </p:nvSpPr>
        <p:spPr>
          <a:xfrm>
            <a:off x="609600" y="6502400"/>
            <a:ext cx="63500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000">
                <a:solidFill>
                  <a:srgbClr val="455567"/>
                </a:solidFill>
                <a:latin typeface="Segoe UI" panose="020B0502040204020203" pitchFamily="34" charset="0"/>
              </a:rPr>
              <a:t>ClinicIQ  |  AI Growth &amp; Automation Associate task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055F17F-BA4F-CBAF-2271-67E99668E1AF}"/>
              </a:ext>
            </a:extLst>
          </p:cNvPr>
          <p:cNvSpPr txBox="1"/>
          <p:nvPr/>
        </p:nvSpPr>
        <p:spPr>
          <a:xfrm>
            <a:off x="10972800" y="6502400"/>
            <a:ext cx="6096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IN" sz="1000">
                <a:solidFill>
                  <a:srgbClr val="455567"/>
                </a:solidFill>
                <a:latin typeface="Segoe UI" panose="020B0502040204020203" pitchFamily="34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2587103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AD34385-064B-AF3B-8070-FB63BCB92410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0E7C7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D0CE4B-AF4A-EAA8-3182-9907882F737A}"/>
              </a:ext>
            </a:extLst>
          </p:cNvPr>
          <p:cNvSpPr txBox="1"/>
          <p:nvPr/>
        </p:nvSpPr>
        <p:spPr>
          <a:xfrm>
            <a:off x="609600" y="330200"/>
            <a:ext cx="8890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200" b="1">
                <a:solidFill>
                  <a:srgbClr val="0E7C7B"/>
                </a:solidFill>
                <a:latin typeface="Segoe UI" panose="020B0502040204020203" pitchFamily="34" charset="0"/>
              </a:rPr>
              <a:t>2  |  PROMPT ENGINEERING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81D0F9-4993-11DD-51EA-18B36A241E2D}"/>
              </a:ext>
            </a:extLst>
          </p:cNvPr>
          <p:cNvSpPr txBox="1"/>
          <p:nvPr/>
        </p:nvSpPr>
        <p:spPr>
          <a:xfrm>
            <a:off x="609600" y="584200"/>
            <a:ext cx="10972800" cy="558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800" b="1">
                <a:solidFill>
                  <a:srgbClr val="0F1F2E"/>
                </a:solidFill>
                <a:latin typeface="Segoe UI" panose="020B0502040204020203" pitchFamily="34" charset="0"/>
              </a:rPr>
              <a:t>ClinicIQ: Prompt Evolution Across Three Stages</a:t>
            </a:r>
            <a:endParaRPr lang="en-IN" sz="2800" b="1">
              <a:solidFill>
                <a:srgbClr val="0F1F2E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23685A7-AAFA-B285-981D-1BDDC0C951BD}"/>
              </a:ext>
            </a:extLst>
          </p:cNvPr>
          <p:cNvSpPr/>
          <p:nvPr/>
        </p:nvSpPr>
        <p:spPr>
          <a:xfrm>
            <a:off x="609600" y="1498600"/>
            <a:ext cx="3454400" cy="381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6D1C5A-1C4A-6268-594D-6A5473D8FC6A}"/>
              </a:ext>
            </a:extLst>
          </p:cNvPr>
          <p:cNvSpPr txBox="1"/>
          <p:nvPr/>
        </p:nvSpPr>
        <p:spPr>
          <a:xfrm>
            <a:off x="838200" y="1676400"/>
            <a:ext cx="29972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600" b="1">
                <a:solidFill>
                  <a:srgbClr val="0F1F2E"/>
                </a:solidFill>
                <a:latin typeface="Segoe UI" panose="020B0502040204020203" pitchFamily="34" charset="0"/>
              </a:rPr>
              <a:t>Stage 1 - Initial Prototype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7330CE-DCB7-CC7F-A7D2-BF31B4BFAF14}"/>
              </a:ext>
            </a:extLst>
          </p:cNvPr>
          <p:cNvSpPr txBox="1"/>
          <p:nvPr/>
        </p:nvSpPr>
        <p:spPr>
          <a:xfrm>
            <a:off x="838200" y="2082800"/>
            <a:ext cx="2997200" cy="307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4202E"/>
                </a:solidFill>
                <a:latin typeface="Segoe UI" panose="020B0502040204020203" pitchFamily="34" charset="0"/>
              </a:rPr>
              <a:t>Built a </a:t>
            </a:r>
            <a:r>
              <a:rPr lang="en-US" sz="1200" dirty="0" err="1">
                <a:solidFill>
                  <a:srgbClr val="14202E"/>
                </a:solidFill>
                <a:latin typeface="Segoe UI" panose="020B0502040204020203" pitchFamily="34" charset="0"/>
              </a:rPr>
              <a:t>Streamlit</a:t>
            </a:r>
            <a:r>
              <a:rPr lang="en-US" sz="1200" dirty="0">
                <a:solidFill>
                  <a:srgbClr val="14202E"/>
                </a:solidFill>
                <a:latin typeface="Segoe UI" panose="020B0502040204020203" pitchFamily="34" charset="0"/>
              </a:rPr>
              <a:t> app to scrape Australian medical clinics.</a:t>
            </a:r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4202E"/>
                </a:solidFill>
                <a:latin typeface="Segoe UI" panose="020B0502040204020203" pitchFamily="34" charset="0"/>
              </a:rPr>
              <a:t>Generated cold outreach emails using an LLM.</a:t>
            </a:r>
          </a:p>
          <a:p>
            <a:pPr>
              <a:spcAft>
                <a:spcPts val="200"/>
              </a:spcAft>
            </a:pPr>
            <a:r>
              <a:rPr lang="en-US" sz="1100" b="1" dirty="0">
                <a:solidFill>
                  <a:srgbClr val="0A5F5E"/>
                </a:solidFill>
                <a:latin typeface="Segoe UI" panose="020B0502040204020203" pitchFamily="34" charset="0"/>
              </a:rPr>
              <a:t>Key issues</a:t>
            </a:r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4202E"/>
                </a:solidFill>
                <a:latin typeface="Segoe UI" panose="020B0502040204020203" pitchFamily="34" charset="0"/>
              </a:rPr>
              <a:t>US-centric language, poor Medicare awareness, scraper crashes, API dependency and UI contrast bugs.</a:t>
            </a:r>
            <a:endParaRPr lang="en-IN" sz="1200" dirty="0">
              <a:solidFill>
                <a:srgbClr val="14202E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E25CAFE-4A17-03B9-3BA6-3C2F56A22439}"/>
              </a:ext>
            </a:extLst>
          </p:cNvPr>
          <p:cNvSpPr/>
          <p:nvPr/>
        </p:nvSpPr>
        <p:spPr>
          <a:xfrm>
            <a:off x="4368800" y="1498600"/>
            <a:ext cx="3454400" cy="381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25BCD5-94BD-7DBB-78CE-140CC1394818}"/>
              </a:ext>
            </a:extLst>
          </p:cNvPr>
          <p:cNvSpPr txBox="1"/>
          <p:nvPr/>
        </p:nvSpPr>
        <p:spPr>
          <a:xfrm>
            <a:off x="4597400" y="1676400"/>
            <a:ext cx="29972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600" b="1">
                <a:solidFill>
                  <a:srgbClr val="0F1F2E"/>
                </a:solidFill>
                <a:latin typeface="Segoe UI" panose="020B0502040204020203" pitchFamily="34" charset="0"/>
              </a:rPr>
              <a:t>Stage 2 - Modular &amp; Australia-Aware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0DF2AF-101B-F1C2-AA96-5E6D37CBC9D1}"/>
              </a:ext>
            </a:extLst>
          </p:cNvPr>
          <p:cNvSpPr txBox="1"/>
          <p:nvPr/>
        </p:nvSpPr>
        <p:spPr>
          <a:xfrm>
            <a:off x="4597400" y="2336800"/>
            <a:ext cx="2997200" cy="307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en-IN" sz="1100" dirty="0">
                <a:solidFill>
                  <a:srgbClr val="14202E"/>
                </a:solidFill>
                <a:latin typeface="Segoe UI" panose="020B0502040204020203" pitchFamily="34" charset="0"/>
              </a:rPr>
              <a:t>Split code into app.py, ai_engine.py, scraper.py and seed data.</a:t>
            </a:r>
          </a:p>
          <a:p>
            <a:pPr>
              <a:spcAft>
                <a:spcPts val="700"/>
              </a:spcAft>
            </a:pPr>
            <a:r>
              <a:rPr lang="en-IN" sz="1100" dirty="0">
                <a:solidFill>
                  <a:srgbClr val="14202E"/>
                </a:solidFill>
                <a:latin typeface="Segoe UI" panose="020B0502040204020203" pitchFamily="34" charset="0"/>
              </a:rPr>
              <a:t>Added Australian phone and postcode parsing.</a:t>
            </a:r>
          </a:p>
          <a:p>
            <a:pPr>
              <a:spcAft>
                <a:spcPts val="700"/>
              </a:spcAft>
            </a:pPr>
            <a:r>
              <a:rPr lang="en-IN" sz="1100" dirty="0">
                <a:solidFill>
                  <a:srgbClr val="14202E"/>
                </a:solidFill>
                <a:latin typeface="Segoe UI" panose="020B0502040204020203" pitchFamily="34" charset="0"/>
              </a:rPr>
              <a:t>Added Queensland clinic seed data and State/Billing filters.</a:t>
            </a:r>
          </a:p>
          <a:p>
            <a:pPr>
              <a:spcAft>
                <a:spcPts val="200"/>
              </a:spcAft>
            </a:pPr>
            <a:r>
              <a:rPr lang="en-IN" sz="1100" b="1" dirty="0">
                <a:solidFill>
                  <a:srgbClr val="0A5F5E"/>
                </a:solidFill>
                <a:latin typeface="Segoe UI" panose="020B0502040204020203" pitchFamily="34" charset="0"/>
              </a:rPr>
              <a:t>Remaining gaps</a:t>
            </a:r>
          </a:p>
          <a:p>
            <a:pPr>
              <a:spcAft>
                <a:spcPts val="700"/>
              </a:spcAft>
            </a:pPr>
            <a:r>
              <a:rPr lang="en-IN" sz="1100" dirty="0">
                <a:solidFill>
                  <a:srgbClr val="14202E"/>
                </a:solidFill>
                <a:latin typeface="Segoe UI" panose="020B0502040204020203" pitchFamily="34" charset="0"/>
              </a:rPr>
              <a:t>Campaign targeting, lead scoring, structured output, offline fallback and dropdown styling.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B28BFEA-B9E0-6B97-8545-8F808B1A5370}"/>
              </a:ext>
            </a:extLst>
          </p:cNvPr>
          <p:cNvSpPr/>
          <p:nvPr/>
        </p:nvSpPr>
        <p:spPr>
          <a:xfrm>
            <a:off x="8128000" y="1498600"/>
            <a:ext cx="3454400" cy="381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97D5B48-4C34-F67B-8199-4B59B2F58916}"/>
              </a:ext>
            </a:extLst>
          </p:cNvPr>
          <p:cNvSpPr txBox="1"/>
          <p:nvPr/>
        </p:nvSpPr>
        <p:spPr>
          <a:xfrm>
            <a:off x="8356600" y="1676400"/>
            <a:ext cx="29972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600" b="1">
                <a:solidFill>
                  <a:srgbClr val="0F1F2E"/>
                </a:solidFill>
                <a:latin typeface="Segoe UI" panose="020B0502040204020203" pitchFamily="34" charset="0"/>
              </a:rPr>
              <a:t>Stage 3 - Production-Grade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70775D-08DC-0890-26B8-8D514C9F8CB2}"/>
              </a:ext>
            </a:extLst>
          </p:cNvPr>
          <p:cNvSpPr txBox="1"/>
          <p:nvPr/>
        </p:nvSpPr>
        <p:spPr>
          <a:xfrm>
            <a:off x="8356600" y="2082800"/>
            <a:ext cx="2997200" cy="307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en-US" sz="1100" dirty="0">
                <a:solidFill>
                  <a:srgbClr val="14202E"/>
                </a:solidFill>
                <a:latin typeface="Segoe UI" panose="020B0502040204020203" pitchFamily="34" charset="0"/>
              </a:rPr>
              <a:t>Added RACGP/MBS context and Australian business English.</a:t>
            </a:r>
          </a:p>
          <a:p>
            <a:pPr>
              <a:spcAft>
                <a:spcPts val="700"/>
              </a:spcAft>
            </a:pPr>
            <a:r>
              <a:rPr lang="en-US" sz="1100" dirty="0">
                <a:solidFill>
                  <a:srgbClr val="14202E"/>
                </a:solidFill>
                <a:latin typeface="Segoe UI" panose="020B0502040204020203" pitchFamily="34" charset="0"/>
              </a:rPr>
              <a:t>Introduced three campaign tracks: GP Recruitment, AI Front-Desk and Allied Health.</a:t>
            </a:r>
          </a:p>
          <a:p>
            <a:pPr>
              <a:spcAft>
                <a:spcPts val="700"/>
              </a:spcAft>
            </a:pPr>
            <a:r>
              <a:rPr lang="en-US" sz="1100" dirty="0">
                <a:solidFill>
                  <a:srgbClr val="14202E"/>
                </a:solidFill>
                <a:latin typeface="Segoe UI" panose="020B0502040204020203" pitchFamily="34" charset="0"/>
              </a:rPr>
              <a:t>Added lead scoring (50-99), structured outreach and CRM-ready output.</a:t>
            </a:r>
          </a:p>
          <a:p>
            <a:pPr>
              <a:spcAft>
                <a:spcPts val="700"/>
              </a:spcAft>
            </a:pPr>
            <a:r>
              <a:rPr lang="en-US" sz="1100" dirty="0">
                <a:solidFill>
                  <a:srgbClr val="14202E"/>
                </a:solidFill>
                <a:latin typeface="Segoe UI" panose="020B0502040204020203" pitchFamily="34" charset="0"/>
              </a:rPr>
              <a:t>Implemented live AI with heuristic fallback, resilient scraping and custom CSS.</a:t>
            </a:r>
            <a:endParaRPr lang="en-IN" sz="1100" dirty="0">
              <a:solidFill>
                <a:srgbClr val="14202E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32D4285-8682-B8B7-A7CB-99CDEC346839}"/>
              </a:ext>
            </a:extLst>
          </p:cNvPr>
          <p:cNvSpPr/>
          <p:nvPr/>
        </p:nvSpPr>
        <p:spPr>
          <a:xfrm>
            <a:off x="609600" y="5486400"/>
            <a:ext cx="10972800" cy="736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ADFD357-790E-351F-E7F4-D888387A3032}"/>
              </a:ext>
            </a:extLst>
          </p:cNvPr>
          <p:cNvSpPr txBox="1"/>
          <p:nvPr/>
        </p:nvSpPr>
        <p:spPr>
          <a:xfrm>
            <a:off x="838200" y="5664200"/>
            <a:ext cx="105156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600" b="1">
                <a:solidFill>
                  <a:srgbClr val="0F1F2E"/>
                </a:solidFill>
                <a:latin typeface="Segoe UI" panose="020B0502040204020203" pitchFamily="34" charset="0"/>
              </a:rPr>
              <a:t>Outcome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5DFE467-5E6A-634D-0839-E931744440B3}"/>
              </a:ext>
            </a:extLst>
          </p:cNvPr>
          <p:cNvSpPr txBox="1"/>
          <p:nvPr/>
        </p:nvSpPr>
        <p:spPr>
          <a:xfrm>
            <a:off x="838200" y="5892800"/>
            <a:ext cx="105156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en-US" sz="1100">
                <a:solidFill>
                  <a:srgbClr val="14202E"/>
                </a:solidFill>
                <a:latin typeface="Segoe UI" panose="020B0502040204020203" pitchFamily="34" charset="0"/>
              </a:rPr>
              <a:t>A more modular, Australia-focused clinic intelligence and outreach system with improved reliability and structured outputs.</a:t>
            </a:r>
            <a:endParaRPr lang="en-IN" sz="1100">
              <a:solidFill>
                <a:srgbClr val="14202E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AF8784A-7E1A-59C8-AFA5-C421D992365C}"/>
              </a:ext>
            </a:extLst>
          </p:cNvPr>
          <p:cNvSpPr txBox="1"/>
          <p:nvPr/>
        </p:nvSpPr>
        <p:spPr>
          <a:xfrm>
            <a:off x="609600" y="6502400"/>
            <a:ext cx="63500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000">
                <a:solidFill>
                  <a:srgbClr val="455567"/>
                </a:solidFill>
                <a:latin typeface="Segoe UI" panose="020B0502040204020203" pitchFamily="34" charset="0"/>
              </a:rPr>
              <a:t>ClinicIQ  |  AI Growth &amp; Automation Associate task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C40434-E07E-7231-C13E-EFA35C40088B}"/>
              </a:ext>
            </a:extLst>
          </p:cNvPr>
          <p:cNvSpPr txBox="1"/>
          <p:nvPr/>
        </p:nvSpPr>
        <p:spPr>
          <a:xfrm>
            <a:off x="10972800" y="6502400"/>
            <a:ext cx="6096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IN" sz="1000">
                <a:solidFill>
                  <a:srgbClr val="455567"/>
                </a:solidFill>
                <a:latin typeface="Segoe UI" panose="020B0502040204020203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1796655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A409C57-1C1E-50DB-17B4-D7D6F2FAA5B0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0E7C7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E8D0B4-13D8-CB71-034F-3CD0361AC08D}"/>
              </a:ext>
            </a:extLst>
          </p:cNvPr>
          <p:cNvSpPr txBox="1"/>
          <p:nvPr/>
        </p:nvSpPr>
        <p:spPr>
          <a:xfrm>
            <a:off x="609600" y="330200"/>
            <a:ext cx="8890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200" b="1">
                <a:solidFill>
                  <a:srgbClr val="0E7C7B"/>
                </a:solidFill>
                <a:latin typeface="Segoe UI" panose="020B0502040204020203" pitchFamily="34" charset="0"/>
              </a:rPr>
              <a:t>3  |  MY APPROACH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C55FAA-F2DA-627B-E575-B9E9E4623A3C}"/>
              </a:ext>
            </a:extLst>
          </p:cNvPr>
          <p:cNvSpPr txBox="1"/>
          <p:nvPr/>
        </p:nvSpPr>
        <p:spPr>
          <a:xfrm>
            <a:off x="609600" y="584200"/>
            <a:ext cx="10972800" cy="558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800" b="1">
                <a:solidFill>
                  <a:srgbClr val="0F1F2E"/>
                </a:solidFill>
                <a:latin typeface="Segoe UI" panose="020B0502040204020203" pitchFamily="34" charset="0"/>
              </a:rPr>
              <a:t>How I approached the task</a:t>
            </a:r>
            <a:endParaRPr lang="en-IN" sz="2800" b="1">
              <a:solidFill>
                <a:srgbClr val="0F1F2E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AC2668F-7BD2-6FAD-E0B6-DF54E76F9E6E}"/>
              </a:ext>
            </a:extLst>
          </p:cNvPr>
          <p:cNvSpPr/>
          <p:nvPr/>
        </p:nvSpPr>
        <p:spPr>
          <a:xfrm>
            <a:off x="609600" y="1498600"/>
            <a:ext cx="2082800" cy="2692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D79EEB4-E2E7-9F57-54BE-1E11C437703D}"/>
              </a:ext>
            </a:extLst>
          </p:cNvPr>
          <p:cNvSpPr/>
          <p:nvPr/>
        </p:nvSpPr>
        <p:spPr>
          <a:xfrm>
            <a:off x="787400" y="1676400"/>
            <a:ext cx="381000" cy="381000"/>
          </a:xfrm>
          <a:prstGeom prst="ellipse">
            <a:avLst/>
          </a:prstGeom>
          <a:solidFill>
            <a:srgbClr val="0E7C7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sz="1400" b="1">
                <a:solidFill>
                  <a:srgbClr val="FFFFFF"/>
                </a:solidFill>
                <a:latin typeface="Segoe UI" panose="020B0502040204020203" pitchFamily="34" charset="0"/>
              </a:rPr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9F47C5-883B-834F-7B16-2283F08CA5F9}"/>
              </a:ext>
            </a:extLst>
          </p:cNvPr>
          <p:cNvSpPr txBox="1"/>
          <p:nvPr/>
        </p:nvSpPr>
        <p:spPr>
          <a:xfrm>
            <a:off x="787400" y="2184400"/>
            <a:ext cx="1727200" cy="482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400" b="1">
                <a:solidFill>
                  <a:srgbClr val="0F1F2E"/>
                </a:solidFill>
                <a:latin typeface="Segoe UI" panose="020B0502040204020203" pitchFamily="34" charset="0"/>
              </a:rPr>
              <a:t>Choose a clinic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368DB8-5410-ED88-F5A6-542FC37B59BD}"/>
              </a:ext>
            </a:extLst>
          </p:cNvPr>
          <p:cNvSpPr txBox="1"/>
          <p:nvPr/>
        </p:nvSpPr>
        <p:spPr>
          <a:xfrm>
            <a:off x="787400" y="2717800"/>
            <a:ext cx="1727200" cy="1346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>
                <a:solidFill>
                  <a:srgbClr val="14202E"/>
                </a:solidFill>
                <a:latin typeface="Segoe UI" panose="020B0502040204020203" pitchFamily="34" charset="0"/>
              </a:rPr>
              <a:t>Pick a stored record or enter a clinic website URL.</a:t>
            </a:r>
            <a:endParaRPr lang="en-IN" sz="1200">
              <a:solidFill>
                <a:srgbClr val="14202E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7F05883-8DC8-EB36-D281-92E6F0AECFA4}"/>
              </a:ext>
            </a:extLst>
          </p:cNvPr>
          <p:cNvSpPr/>
          <p:nvPr/>
        </p:nvSpPr>
        <p:spPr>
          <a:xfrm>
            <a:off x="2806700" y="1498600"/>
            <a:ext cx="2082800" cy="2692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CD1E6F3-A767-3934-0B1A-A0D77F5957B1}"/>
              </a:ext>
            </a:extLst>
          </p:cNvPr>
          <p:cNvSpPr/>
          <p:nvPr/>
        </p:nvSpPr>
        <p:spPr>
          <a:xfrm>
            <a:off x="2984500" y="1676400"/>
            <a:ext cx="381000" cy="381000"/>
          </a:xfrm>
          <a:prstGeom prst="ellipse">
            <a:avLst/>
          </a:prstGeom>
          <a:solidFill>
            <a:srgbClr val="0E7C7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sz="1400" b="1">
                <a:solidFill>
                  <a:srgbClr val="FFFFFF"/>
                </a:solidFill>
                <a:latin typeface="Segoe UI" panose="020B0502040204020203" pitchFamily="34" charset="0"/>
              </a:rPr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02A1F6-F888-F3B1-C357-457AB8B51C5A}"/>
              </a:ext>
            </a:extLst>
          </p:cNvPr>
          <p:cNvSpPr txBox="1"/>
          <p:nvPr/>
        </p:nvSpPr>
        <p:spPr>
          <a:xfrm>
            <a:off x="2984500" y="2184400"/>
            <a:ext cx="1727200" cy="482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400" b="1">
                <a:solidFill>
                  <a:srgbClr val="0F1F2E"/>
                </a:solidFill>
                <a:latin typeface="Segoe UI" panose="020B0502040204020203" pitchFamily="34" charset="0"/>
              </a:rPr>
              <a:t>Extract details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B420E3-24E3-3CBD-643A-6F3002ACA20B}"/>
              </a:ext>
            </a:extLst>
          </p:cNvPr>
          <p:cNvSpPr txBox="1"/>
          <p:nvPr/>
        </p:nvSpPr>
        <p:spPr>
          <a:xfrm>
            <a:off x="2984500" y="2717800"/>
            <a:ext cx="1727200" cy="1346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>
                <a:solidFill>
                  <a:srgbClr val="14202E"/>
                </a:solidFill>
                <a:latin typeface="Segoe UI" panose="020B0502040204020203" pitchFamily="34" charset="0"/>
              </a:rPr>
              <a:t>BeautifulSoup reads the page. Regex and keyword rules find phone, state, postcode, billing, hours and telehealth.</a:t>
            </a:r>
            <a:endParaRPr lang="en-IN" sz="1200">
              <a:solidFill>
                <a:srgbClr val="14202E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C2B24AA-7D6F-46F0-065A-6DB6CDEC3D47}"/>
              </a:ext>
            </a:extLst>
          </p:cNvPr>
          <p:cNvSpPr/>
          <p:nvPr/>
        </p:nvSpPr>
        <p:spPr>
          <a:xfrm>
            <a:off x="5003800" y="1498600"/>
            <a:ext cx="2082800" cy="2692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13C7384-05B9-E5A9-04E4-27950384C29C}"/>
              </a:ext>
            </a:extLst>
          </p:cNvPr>
          <p:cNvSpPr/>
          <p:nvPr/>
        </p:nvSpPr>
        <p:spPr>
          <a:xfrm>
            <a:off x="5181600" y="1676400"/>
            <a:ext cx="381000" cy="381000"/>
          </a:xfrm>
          <a:prstGeom prst="ellipse">
            <a:avLst/>
          </a:prstGeom>
          <a:solidFill>
            <a:srgbClr val="0E7C7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sz="1400" b="1">
                <a:solidFill>
                  <a:srgbClr val="FFFFFF"/>
                </a:solidFill>
                <a:latin typeface="Segoe UI" panose="020B0502040204020203" pitchFamily="34" charset="0"/>
              </a:rPr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254137-FC00-FB69-BF76-38D448AC9658}"/>
              </a:ext>
            </a:extLst>
          </p:cNvPr>
          <p:cNvSpPr txBox="1"/>
          <p:nvPr/>
        </p:nvSpPr>
        <p:spPr>
          <a:xfrm>
            <a:off x="5181600" y="2184400"/>
            <a:ext cx="1727200" cy="482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400" b="1">
                <a:solidFill>
                  <a:srgbClr val="0F1F2E"/>
                </a:solidFill>
                <a:latin typeface="Segoe UI" panose="020B0502040204020203" pitchFamily="34" charset="0"/>
              </a:rPr>
              <a:t>Analyse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F1B64E4-E7B6-F2C5-0941-AC7E7FA1320D}"/>
              </a:ext>
            </a:extLst>
          </p:cNvPr>
          <p:cNvSpPr txBox="1"/>
          <p:nvPr/>
        </p:nvSpPr>
        <p:spPr>
          <a:xfrm>
            <a:off x="5181600" y="2717800"/>
            <a:ext cx="1727200" cy="1346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>
                <a:solidFill>
                  <a:srgbClr val="14202E"/>
                </a:solidFill>
                <a:latin typeface="Segoe UI" panose="020B0502040204020203" pitchFamily="34" charset="0"/>
              </a:rPr>
              <a:t>AI or rule-based logic gives a lead score, gaps and a pitch angle.</a:t>
            </a:r>
            <a:endParaRPr lang="en-IN" sz="1200">
              <a:solidFill>
                <a:srgbClr val="14202E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769180B-3F2E-AFCB-FA81-459C61BD047B}"/>
              </a:ext>
            </a:extLst>
          </p:cNvPr>
          <p:cNvSpPr/>
          <p:nvPr/>
        </p:nvSpPr>
        <p:spPr>
          <a:xfrm>
            <a:off x="7200900" y="1498600"/>
            <a:ext cx="2082800" cy="2692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EF39999-D618-F08C-C65C-ED9BE6ACAF80}"/>
              </a:ext>
            </a:extLst>
          </p:cNvPr>
          <p:cNvSpPr/>
          <p:nvPr/>
        </p:nvSpPr>
        <p:spPr>
          <a:xfrm>
            <a:off x="7378700" y="1676400"/>
            <a:ext cx="381000" cy="381000"/>
          </a:xfrm>
          <a:prstGeom prst="ellipse">
            <a:avLst/>
          </a:prstGeom>
          <a:solidFill>
            <a:srgbClr val="0E7C7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sz="1400" b="1">
                <a:solidFill>
                  <a:srgbClr val="FFFFFF"/>
                </a:solidFill>
                <a:latin typeface="Segoe UI" panose="020B0502040204020203" pitchFamily="34" charset="0"/>
              </a:rPr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87C572B-837D-CD51-67B5-7C5B2557F429}"/>
              </a:ext>
            </a:extLst>
          </p:cNvPr>
          <p:cNvSpPr txBox="1"/>
          <p:nvPr/>
        </p:nvSpPr>
        <p:spPr>
          <a:xfrm>
            <a:off x="7378700" y="2184400"/>
            <a:ext cx="1727200" cy="482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400" b="1">
                <a:solidFill>
                  <a:srgbClr val="0F1F2E"/>
                </a:solidFill>
                <a:latin typeface="Segoe UI" panose="020B0502040204020203" pitchFamily="34" charset="0"/>
              </a:rPr>
              <a:t>Draft outreach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F7A07D-67B5-97E5-7386-E207441AB4A3}"/>
              </a:ext>
            </a:extLst>
          </p:cNvPr>
          <p:cNvSpPr txBox="1"/>
          <p:nvPr/>
        </p:nvSpPr>
        <p:spPr>
          <a:xfrm>
            <a:off x="7378700" y="2717800"/>
            <a:ext cx="1727200" cy="1346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>
                <a:solidFill>
                  <a:srgbClr val="14202E"/>
                </a:solidFill>
                <a:latin typeface="Segoe UI" panose="020B0502040204020203" pitchFamily="34" charset="0"/>
              </a:rPr>
              <a:t>Pick a campaign type to get a subject, email body and day-3 follow-up.</a:t>
            </a:r>
            <a:endParaRPr lang="en-IN" sz="1200">
              <a:solidFill>
                <a:srgbClr val="14202E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9CE3523-3FAF-2348-6C54-6294195DE2D0}"/>
              </a:ext>
            </a:extLst>
          </p:cNvPr>
          <p:cNvSpPr/>
          <p:nvPr/>
        </p:nvSpPr>
        <p:spPr>
          <a:xfrm>
            <a:off x="9398000" y="1498600"/>
            <a:ext cx="2082800" cy="2692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DCA9430-FD93-A5C9-9B8A-757F81881A2E}"/>
              </a:ext>
            </a:extLst>
          </p:cNvPr>
          <p:cNvSpPr/>
          <p:nvPr/>
        </p:nvSpPr>
        <p:spPr>
          <a:xfrm>
            <a:off x="9575800" y="1676400"/>
            <a:ext cx="381000" cy="381000"/>
          </a:xfrm>
          <a:prstGeom prst="ellipse">
            <a:avLst/>
          </a:prstGeom>
          <a:solidFill>
            <a:srgbClr val="0E7C7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sz="1400" b="1">
                <a:solidFill>
                  <a:srgbClr val="FFFFFF"/>
                </a:solidFill>
                <a:latin typeface="Segoe UI" panose="020B0502040204020203" pitchFamily="34" charset="0"/>
              </a:rPr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4FAC24C-F5EA-6259-F9A1-C7BB2CBD667F}"/>
              </a:ext>
            </a:extLst>
          </p:cNvPr>
          <p:cNvSpPr txBox="1"/>
          <p:nvPr/>
        </p:nvSpPr>
        <p:spPr>
          <a:xfrm>
            <a:off x="9575800" y="2184400"/>
            <a:ext cx="1727200" cy="482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400" b="1">
                <a:solidFill>
                  <a:srgbClr val="0F1F2E"/>
                </a:solidFill>
                <a:latin typeface="Segoe UI" panose="020B0502040204020203" pitchFamily="34" charset="0"/>
              </a:rPr>
              <a:t>Review and export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C644618-6E17-7ACA-38BE-F141E7BA42AC}"/>
              </a:ext>
            </a:extLst>
          </p:cNvPr>
          <p:cNvSpPr txBox="1"/>
          <p:nvPr/>
        </p:nvSpPr>
        <p:spPr>
          <a:xfrm>
            <a:off x="9575800" y="2717800"/>
            <a:ext cx="1727200" cy="1346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>
                <a:solidFill>
                  <a:srgbClr val="14202E"/>
                </a:solidFill>
                <a:latin typeface="Segoe UI" panose="020B0502040204020203" pitchFamily="34" charset="0"/>
              </a:rPr>
              <a:t>Check the draft, then export the email as JSON or the database as CSV.</a:t>
            </a:r>
            <a:endParaRPr lang="en-IN" sz="1200">
              <a:solidFill>
                <a:srgbClr val="14202E"/>
              </a:solidFill>
              <a:latin typeface="Segoe UI" panose="020B0502040204020203" pitchFamily="34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E3FA086-AB3A-B19A-4540-4DE906040C3D}"/>
              </a:ext>
            </a:extLst>
          </p:cNvPr>
          <p:cNvSpPr/>
          <p:nvPr/>
        </p:nvSpPr>
        <p:spPr>
          <a:xfrm>
            <a:off x="609600" y="4394200"/>
            <a:ext cx="10871200" cy="1625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11C32D5-8C69-BA06-3F8B-93B80F2DAB3A}"/>
              </a:ext>
            </a:extLst>
          </p:cNvPr>
          <p:cNvSpPr txBox="1"/>
          <p:nvPr/>
        </p:nvSpPr>
        <p:spPr>
          <a:xfrm>
            <a:off x="838200" y="4572000"/>
            <a:ext cx="10414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600" b="1">
                <a:solidFill>
                  <a:srgbClr val="0F1F2E"/>
                </a:solidFill>
                <a:latin typeface="Segoe UI" panose="020B0502040204020203" pitchFamily="34" charset="0"/>
              </a:rPr>
              <a:t>Previous experience and knowledge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6FE71CF-AA59-E314-4637-8FF638643B0D}"/>
              </a:ext>
            </a:extLst>
          </p:cNvPr>
          <p:cNvSpPr txBox="1"/>
          <p:nvPr/>
        </p:nvSpPr>
        <p:spPr>
          <a:xfrm>
            <a:off x="838200" y="4978400"/>
            <a:ext cx="10414000" cy="889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en-IN" sz="1300" i="1" dirty="0">
                <a:solidFill>
                  <a:srgbClr val="B45F06"/>
                </a:solidFill>
                <a:latin typeface="Segoe UI" panose="020B0502040204020203" pitchFamily="34" charset="0"/>
              </a:rPr>
              <a:t>Previously I worked on scraping so it helped what to target and I am unable to </a:t>
            </a:r>
            <a:r>
              <a:rPr lang="en-IN" sz="1300" i="1" dirty="0" err="1">
                <a:solidFill>
                  <a:srgbClr val="B45F06"/>
                </a:solidFill>
                <a:latin typeface="Segoe UI" panose="020B0502040204020203" pitchFamily="34" charset="0"/>
              </a:rPr>
              <a:t>slove</a:t>
            </a:r>
            <a:r>
              <a:rPr lang="en-IN" sz="1300" i="1" dirty="0">
                <a:solidFill>
                  <a:srgbClr val="B45F06"/>
                </a:solidFill>
                <a:latin typeface="Segoe UI" panose="020B0502040204020203" pitchFamily="34" charset="0"/>
              </a:rPr>
              <a:t> few issues when building project</a:t>
            </a:r>
          </a:p>
          <a:p>
            <a:pPr>
              <a:spcAft>
                <a:spcPts val="700"/>
              </a:spcAft>
            </a:pPr>
            <a:endParaRPr lang="en-IN" sz="1300" i="1" dirty="0">
              <a:solidFill>
                <a:srgbClr val="B45F06"/>
              </a:solidFill>
              <a:latin typeface="Segoe UI" panose="020B0502040204020203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53FE701-2561-64C5-49A9-9122629EB62A}"/>
              </a:ext>
            </a:extLst>
          </p:cNvPr>
          <p:cNvSpPr txBox="1"/>
          <p:nvPr/>
        </p:nvSpPr>
        <p:spPr>
          <a:xfrm>
            <a:off x="609600" y="6502400"/>
            <a:ext cx="63500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000">
                <a:solidFill>
                  <a:srgbClr val="455567"/>
                </a:solidFill>
                <a:latin typeface="Segoe UI" panose="020B0502040204020203" pitchFamily="34" charset="0"/>
              </a:rPr>
              <a:t>ClinicIQ  |  AI Growth &amp; Automation Associate task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3CF2A92-E863-D77E-5F16-D6703F159666}"/>
              </a:ext>
            </a:extLst>
          </p:cNvPr>
          <p:cNvSpPr txBox="1"/>
          <p:nvPr/>
        </p:nvSpPr>
        <p:spPr>
          <a:xfrm>
            <a:off x="10972800" y="6502400"/>
            <a:ext cx="6096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IN" sz="1000">
                <a:solidFill>
                  <a:srgbClr val="455567"/>
                </a:solidFill>
                <a:latin typeface="Segoe UI" panose="020B0502040204020203" pitchFamily="34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2335129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5EECE4-FF89-509A-9D1F-C2F8AE9C2BE4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0E7C7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A528E4-79FE-D650-F6DA-FF8DCC933A8A}"/>
              </a:ext>
            </a:extLst>
          </p:cNvPr>
          <p:cNvSpPr txBox="1"/>
          <p:nvPr/>
        </p:nvSpPr>
        <p:spPr>
          <a:xfrm>
            <a:off x="609600" y="330200"/>
            <a:ext cx="8890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200" b="1">
                <a:solidFill>
                  <a:srgbClr val="0E7C7B"/>
                </a:solidFill>
                <a:latin typeface="Segoe UI" panose="020B0502040204020203" pitchFamily="34" charset="0"/>
              </a:rPr>
              <a:t>4  |  CHALLENGES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A5B035-5678-66B3-A4CA-962E16DEFD9F}"/>
              </a:ext>
            </a:extLst>
          </p:cNvPr>
          <p:cNvSpPr txBox="1"/>
          <p:nvPr/>
        </p:nvSpPr>
        <p:spPr>
          <a:xfrm>
            <a:off x="609600" y="584200"/>
            <a:ext cx="10972800" cy="558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800" b="1">
                <a:solidFill>
                  <a:srgbClr val="0F1F2E"/>
                </a:solidFill>
                <a:latin typeface="Segoe UI" panose="020B0502040204020203" pitchFamily="34" charset="0"/>
              </a:rPr>
              <a:t>Issues faced and how I solved them</a:t>
            </a:r>
            <a:endParaRPr lang="en-IN" sz="2800" b="1">
              <a:solidFill>
                <a:srgbClr val="0F1F2E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2307989-4375-8D98-1C0B-EB5AAC4B2AC7}"/>
              </a:ext>
            </a:extLst>
          </p:cNvPr>
          <p:cNvSpPr/>
          <p:nvPr/>
        </p:nvSpPr>
        <p:spPr>
          <a:xfrm>
            <a:off x="609600" y="1422400"/>
            <a:ext cx="5384800" cy="88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77E9B7-AD9B-BBB4-6D4A-BE5A139C9668}"/>
              </a:ext>
            </a:extLst>
          </p:cNvPr>
          <p:cNvSpPr txBox="1"/>
          <p:nvPr/>
        </p:nvSpPr>
        <p:spPr>
          <a:xfrm>
            <a:off x="762000" y="1498600"/>
            <a:ext cx="5080000" cy="190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000" b="1">
                <a:solidFill>
                  <a:srgbClr val="0A5F5E"/>
                </a:solidFill>
                <a:latin typeface="Segoe UI" panose="020B0502040204020203" pitchFamily="34" charset="0"/>
              </a:rPr>
              <a:t>1. Python environment mismatch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96F072-06AD-4395-DCB8-772EC2B735A1}"/>
              </a:ext>
            </a:extLst>
          </p:cNvPr>
          <p:cNvSpPr txBox="1"/>
          <p:nvPr/>
        </p:nvSpPr>
        <p:spPr>
          <a:xfrm>
            <a:off x="762000" y="1714500"/>
            <a:ext cx="50800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>
                <a:solidFill>
                  <a:srgbClr val="14202E"/>
                </a:solidFill>
                <a:latin typeface="Segoe UI" panose="020B0502040204020203" pitchFamily="34" charset="0"/>
              </a:rPr>
              <a:t>Used the project's .venv Python interpreter instead of the different interpreter selected by VS Code.</a:t>
            </a:r>
            <a:endParaRPr lang="en-IN" sz="900">
              <a:solidFill>
                <a:srgbClr val="14202E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3C03256-A3B9-2DBA-395B-09E7CA77DB38}"/>
              </a:ext>
            </a:extLst>
          </p:cNvPr>
          <p:cNvSpPr/>
          <p:nvPr/>
        </p:nvSpPr>
        <p:spPr>
          <a:xfrm>
            <a:off x="609600" y="2387600"/>
            <a:ext cx="5384800" cy="88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230EF1-7898-ED68-FD6D-2F50D17E07B5}"/>
              </a:ext>
            </a:extLst>
          </p:cNvPr>
          <p:cNvSpPr txBox="1"/>
          <p:nvPr/>
        </p:nvSpPr>
        <p:spPr>
          <a:xfrm>
            <a:off x="762000" y="2463800"/>
            <a:ext cx="5080000" cy="190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000" b="1">
                <a:solidFill>
                  <a:srgbClr val="0A5F5E"/>
                </a:solidFill>
                <a:latin typeface="Segoe UI" panose="020B0502040204020203" pitchFamily="34" charset="0"/>
              </a:rPr>
              <a:t>2. PowerShell execution policy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899E81-51A9-F7FA-B779-11D834522C69}"/>
              </a:ext>
            </a:extLst>
          </p:cNvPr>
          <p:cNvSpPr txBox="1"/>
          <p:nvPr/>
        </p:nvSpPr>
        <p:spPr>
          <a:xfrm>
            <a:off x="762000" y="2679700"/>
            <a:ext cx="50800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>
                <a:solidFill>
                  <a:srgbClr val="14202E"/>
                </a:solidFill>
                <a:latin typeface="Segoe UI" panose="020B0502040204020203" pitchFamily="34" charset="0"/>
              </a:rPr>
              <a:t>Ran .venv\Scripts\python.exe directly instead of activating the environment with Activate.ps1.</a:t>
            </a:r>
            <a:endParaRPr lang="en-IN" sz="900">
              <a:solidFill>
                <a:srgbClr val="14202E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544E1C8-CF36-EA63-DE66-8386612EA933}"/>
              </a:ext>
            </a:extLst>
          </p:cNvPr>
          <p:cNvSpPr/>
          <p:nvPr/>
        </p:nvSpPr>
        <p:spPr>
          <a:xfrm>
            <a:off x="609600" y="3352800"/>
            <a:ext cx="5384800" cy="88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B70ABF-F6CA-3F2B-E477-56F1E95B1F25}"/>
              </a:ext>
            </a:extLst>
          </p:cNvPr>
          <p:cNvSpPr txBox="1"/>
          <p:nvPr/>
        </p:nvSpPr>
        <p:spPr>
          <a:xfrm>
            <a:off x="762000" y="3429000"/>
            <a:ext cx="5080000" cy="190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000" b="1">
                <a:solidFill>
                  <a:srgbClr val="0A5F5E"/>
                </a:solidFill>
                <a:latin typeface="Segoe UI" panose="020B0502040204020203" pitchFamily="34" charset="0"/>
              </a:rPr>
              <a:t>3. Streamlit library missing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FD5205-BA28-0915-57C6-D06D24DF4D95}"/>
              </a:ext>
            </a:extLst>
          </p:cNvPr>
          <p:cNvSpPr txBox="1"/>
          <p:nvPr/>
        </p:nvSpPr>
        <p:spPr>
          <a:xfrm>
            <a:off x="762000" y="3644900"/>
            <a:ext cx="50800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>
                <a:solidFill>
                  <a:srgbClr val="14202E"/>
                </a:solidFill>
                <a:latin typeface="Segoe UI" panose="020B0502040204020203" pitchFamily="34" charset="0"/>
              </a:rPr>
              <a:t>Installed Streamlit and the required libraries inside the project's virtual environment.</a:t>
            </a:r>
            <a:endParaRPr lang="en-IN" sz="900">
              <a:solidFill>
                <a:srgbClr val="14202E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274957B-93DD-FBDD-6CCC-9348D15B449F}"/>
              </a:ext>
            </a:extLst>
          </p:cNvPr>
          <p:cNvSpPr/>
          <p:nvPr/>
        </p:nvSpPr>
        <p:spPr>
          <a:xfrm>
            <a:off x="609600" y="4318000"/>
            <a:ext cx="5384800" cy="88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C8470BF-0094-BDCA-19DC-322254BADA07}"/>
              </a:ext>
            </a:extLst>
          </p:cNvPr>
          <p:cNvSpPr txBox="1"/>
          <p:nvPr/>
        </p:nvSpPr>
        <p:spPr>
          <a:xfrm>
            <a:off x="762000" y="4394200"/>
            <a:ext cx="5080000" cy="190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000" b="1">
                <a:solidFill>
                  <a:srgbClr val="0A5F5E"/>
                </a:solidFill>
                <a:latin typeface="Segoe UI" panose="020B0502040204020203" pitchFamily="34" charset="0"/>
              </a:rPr>
              <a:t>4. Broken pip installation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7A4FD00-B287-D52F-74C6-EC16A936791F}"/>
              </a:ext>
            </a:extLst>
          </p:cNvPr>
          <p:cNvSpPr txBox="1"/>
          <p:nvPr/>
        </p:nvSpPr>
        <p:spPr>
          <a:xfrm>
            <a:off x="762000" y="4610100"/>
            <a:ext cx="50800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>
                <a:solidFill>
                  <a:srgbClr val="14202E"/>
                </a:solidFill>
                <a:latin typeface="Segoe UI" panose="020B0502040204020203" pitchFamily="34" charset="0"/>
              </a:rPr>
              <a:t>Used python.exe -m pip through the project environment because global pip pointed to a missing Python 3.12 installation.</a:t>
            </a:r>
            <a:endParaRPr lang="en-IN" sz="900">
              <a:solidFill>
                <a:srgbClr val="14202E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1BD4051-CC45-E6F5-0599-5440FD71A6AC}"/>
              </a:ext>
            </a:extLst>
          </p:cNvPr>
          <p:cNvSpPr/>
          <p:nvPr/>
        </p:nvSpPr>
        <p:spPr>
          <a:xfrm>
            <a:off x="609600" y="5283200"/>
            <a:ext cx="5384800" cy="88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0C436BB-C87A-E3E7-BDBA-8E4DA3D2F44D}"/>
              </a:ext>
            </a:extLst>
          </p:cNvPr>
          <p:cNvSpPr txBox="1"/>
          <p:nvPr/>
        </p:nvSpPr>
        <p:spPr>
          <a:xfrm>
            <a:off x="762000" y="5359400"/>
            <a:ext cx="5080000" cy="190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000" b="1">
                <a:solidFill>
                  <a:srgbClr val="0A5F5E"/>
                </a:solidFill>
                <a:latin typeface="Segoe UI" panose="020B0502040204020203" pitchFamily="34" charset="0"/>
              </a:rPr>
              <a:t>5. Python syntax error in scraper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EC6E27F-0B69-C0EA-59EC-34C7E2794F88}"/>
              </a:ext>
            </a:extLst>
          </p:cNvPr>
          <p:cNvSpPr txBox="1"/>
          <p:nvPr/>
        </p:nvSpPr>
        <p:spPr>
          <a:xfrm>
            <a:off x="762000" y="5575300"/>
            <a:ext cx="50800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>
                <a:solidFill>
                  <a:srgbClr val="14202E"/>
                </a:solidFill>
                <a:latin typeface="Segoe UI" panose="020B0502040204020203" pitchFamily="34" charset="0"/>
              </a:rPr>
              <a:t>Corrected the 'an' versus 'and' typo and fixed incorrectly escaped URL strings in scraper.py.</a:t>
            </a:r>
            <a:endParaRPr lang="en-IN" sz="900">
              <a:solidFill>
                <a:srgbClr val="14202E"/>
              </a:solidFill>
              <a:latin typeface="Segoe UI" panose="020B0502040204020203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ABA7F3C-7335-B122-E5E9-EDA59EE4913F}"/>
              </a:ext>
            </a:extLst>
          </p:cNvPr>
          <p:cNvSpPr/>
          <p:nvPr/>
        </p:nvSpPr>
        <p:spPr>
          <a:xfrm>
            <a:off x="6197600" y="1422400"/>
            <a:ext cx="5384800" cy="88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DFFF10-8C74-99BB-706D-5104248A18AC}"/>
              </a:ext>
            </a:extLst>
          </p:cNvPr>
          <p:cNvSpPr txBox="1"/>
          <p:nvPr/>
        </p:nvSpPr>
        <p:spPr>
          <a:xfrm>
            <a:off x="6350000" y="1498600"/>
            <a:ext cx="5080000" cy="190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000" b="1">
                <a:solidFill>
                  <a:srgbClr val="0A5F5E"/>
                </a:solidFill>
                <a:latin typeface="Segoe UI" panose="020B0502040204020203" pitchFamily="34" charset="0"/>
              </a:rPr>
              <a:t>6. Streamlit tab navigation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D4F6258-0A4A-A838-FCE8-787E83E65B07}"/>
              </a:ext>
            </a:extLst>
          </p:cNvPr>
          <p:cNvSpPr txBox="1"/>
          <p:nvPr/>
        </p:nvSpPr>
        <p:spPr>
          <a:xfrm>
            <a:off x="6350000" y="1714500"/>
            <a:ext cx="50800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>
                <a:solidFill>
                  <a:srgbClr val="14202E"/>
                </a:solidFill>
                <a:latin typeface="Segoe UI" panose="020B0502040204020203" pitchFamily="34" charset="0"/>
              </a:rPr>
              <a:t>Identified that st.tabs() does not support programmatic tab switching and worked on navigation that supports page selection.</a:t>
            </a:r>
            <a:endParaRPr lang="en-IN" sz="900">
              <a:solidFill>
                <a:srgbClr val="14202E"/>
              </a:solidFill>
              <a:latin typeface="Segoe UI" panose="020B0502040204020203" pitchFamily="34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E21FF8FE-8E4C-B903-7E38-1F8D83E0C928}"/>
              </a:ext>
            </a:extLst>
          </p:cNvPr>
          <p:cNvSpPr/>
          <p:nvPr/>
        </p:nvSpPr>
        <p:spPr>
          <a:xfrm>
            <a:off x="6197600" y="2387600"/>
            <a:ext cx="5384800" cy="88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DF8F582-3F52-A07E-728C-0695F957E35E}"/>
              </a:ext>
            </a:extLst>
          </p:cNvPr>
          <p:cNvSpPr txBox="1"/>
          <p:nvPr/>
        </p:nvSpPr>
        <p:spPr>
          <a:xfrm>
            <a:off x="6350000" y="2463800"/>
            <a:ext cx="5080000" cy="190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>
                <a:solidFill>
                  <a:srgbClr val="0A5F5E"/>
                </a:solidFill>
                <a:latin typeface="Segoe UI" panose="020B0502040204020203" pitchFamily="34" charset="0"/>
              </a:rPr>
              <a:t>7. Session state lost on reruns</a:t>
            </a:r>
            <a:endParaRPr lang="en-IN" sz="1000" b="1">
              <a:solidFill>
                <a:srgbClr val="0A5F5E"/>
              </a:solidFill>
              <a:latin typeface="Segoe UI" panose="020B0502040204020203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CF44BB5-7FF6-061C-22A2-A8829688FD50}"/>
              </a:ext>
            </a:extLst>
          </p:cNvPr>
          <p:cNvSpPr txBox="1"/>
          <p:nvPr/>
        </p:nvSpPr>
        <p:spPr>
          <a:xfrm>
            <a:off x="6350000" y="2679700"/>
            <a:ext cx="50800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>
                <a:solidFill>
                  <a:srgbClr val="14202E"/>
                </a:solidFill>
                <a:latin typeface="Segoe UI" panose="020B0502040204020203" pitchFamily="34" charset="0"/>
              </a:rPr>
              <a:t>Used st.session_state to preserve scraped results and the selected clinic across app reruns.</a:t>
            </a:r>
            <a:endParaRPr lang="en-IN" sz="900">
              <a:solidFill>
                <a:srgbClr val="14202E"/>
              </a:solidFill>
              <a:latin typeface="Segoe UI" panose="020B0502040204020203" pitchFamily="34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D96208B-5BD9-9452-5BB7-EFAB3FB55ECF}"/>
              </a:ext>
            </a:extLst>
          </p:cNvPr>
          <p:cNvSpPr/>
          <p:nvPr/>
        </p:nvSpPr>
        <p:spPr>
          <a:xfrm>
            <a:off x="6197600" y="3352800"/>
            <a:ext cx="5384800" cy="88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1DDC01F-3C6B-9345-F783-541D9422773B}"/>
              </a:ext>
            </a:extLst>
          </p:cNvPr>
          <p:cNvSpPr txBox="1"/>
          <p:nvPr/>
        </p:nvSpPr>
        <p:spPr>
          <a:xfrm>
            <a:off x="6350000" y="3429000"/>
            <a:ext cx="5080000" cy="190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000" b="1">
                <a:solidFill>
                  <a:srgbClr val="0A5F5E"/>
                </a:solidFill>
                <a:latin typeface="Segoe UI" panose="020B0502040204020203" pitchFamily="34" charset="0"/>
              </a:rPr>
              <a:t>8. Missing scraped information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386D697-1755-7ECB-C365-AE09CCEEF0F7}"/>
              </a:ext>
            </a:extLst>
          </p:cNvPr>
          <p:cNvSpPr txBox="1"/>
          <p:nvPr/>
        </p:nvSpPr>
        <p:spPr>
          <a:xfrm>
            <a:off x="6350000" y="3644900"/>
            <a:ext cx="50800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>
                <a:solidFill>
                  <a:srgbClr val="14202E"/>
                </a:solidFill>
                <a:latin typeface="Segoe UI" panose="020B0502040204020203" pitchFamily="34" charset="0"/>
              </a:rPr>
              <a:t>Displayed fallback labels such as 'Not extracted' rather than inventing details that the website did not provide.</a:t>
            </a:r>
            <a:endParaRPr lang="en-IN" sz="900">
              <a:solidFill>
                <a:srgbClr val="14202E"/>
              </a:solidFill>
              <a:latin typeface="Segoe UI" panose="020B0502040204020203" pitchFamily="34" charset="0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D1F80B9-B011-3C85-44EB-883C6292C0CF}"/>
              </a:ext>
            </a:extLst>
          </p:cNvPr>
          <p:cNvSpPr/>
          <p:nvPr/>
        </p:nvSpPr>
        <p:spPr>
          <a:xfrm>
            <a:off x="6197600" y="4318000"/>
            <a:ext cx="5384800" cy="88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C236002-8BC5-8389-FF50-A89181C4DBB3}"/>
              </a:ext>
            </a:extLst>
          </p:cNvPr>
          <p:cNvSpPr txBox="1"/>
          <p:nvPr/>
        </p:nvSpPr>
        <p:spPr>
          <a:xfrm>
            <a:off x="6350000" y="4394200"/>
            <a:ext cx="5080000" cy="190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000" b="1">
                <a:solidFill>
                  <a:srgbClr val="0A5F5E"/>
                </a:solidFill>
                <a:latin typeface="Segoe UI" panose="020B0502040204020203" pitchFamily="34" charset="0"/>
              </a:rPr>
              <a:t>9. Duplicate clinic records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F74C434-9786-A92C-FE3D-8D122E0C14F8}"/>
              </a:ext>
            </a:extLst>
          </p:cNvPr>
          <p:cNvSpPr txBox="1"/>
          <p:nvPr/>
        </p:nvSpPr>
        <p:spPr>
          <a:xfrm>
            <a:off x="6350000" y="4610100"/>
            <a:ext cx="50800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>
                <a:solidFill>
                  <a:srgbClr val="14202E"/>
                </a:solidFill>
                <a:latin typeface="Segoe UI" panose="020B0502040204020203" pitchFamily="34" charset="0"/>
              </a:rPr>
              <a:t>Checked clinic website URLs and clinic names before inserting records to prevent duplicates.</a:t>
            </a:r>
            <a:endParaRPr lang="en-IN" sz="900">
              <a:solidFill>
                <a:srgbClr val="14202E"/>
              </a:solidFill>
              <a:latin typeface="Segoe UI" panose="020B0502040204020203" pitchFamily="34" charset="0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F527597A-4896-6CD2-86D2-2829A38A42BC}"/>
              </a:ext>
            </a:extLst>
          </p:cNvPr>
          <p:cNvSpPr/>
          <p:nvPr/>
        </p:nvSpPr>
        <p:spPr>
          <a:xfrm>
            <a:off x="6197600" y="5283200"/>
            <a:ext cx="5384800" cy="88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DC07927-E2B9-DC00-5445-0AE972DD5BA7}"/>
              </a:ext>
            </a:extLst>
          </p:cNvPr>
          <p:cNvSpPr txBox="1"/>
          <p:nvPr/>
        </p:nvSpPr>
        <p:spPr>
          <a:xfrm>
            <a:off x="6350000" y="5359400"/>
            <a:ext cx="5080000" cy="190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000" b="1">
                <a:solidFill>
                  <a:srgbClr val="0A5F5E"/>
                </a:solidFill>
                <a:latin typeface="Segoe UI" panose="020B0502040204020203" pitchFamily="34" charset="0"/>
              </a:rPr>
              <a:t>10. Dashboard branding mismatch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799507D-5F81-5212-E5BF-A2095D2A8238}"/>
              </a:ext>
            </a:extLst>
          </p:cNvPr>
          <p:cNvSpPr txBox="1"/>
          <p:nvPr/>
        </p:nvSpPr>
        <p:spPr>
          <a:xfrm>
            <a:off x="6350000" y="5575300"/>
            <a:ext cx="50800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>
                <a:solidFill>
                  <a:srgbClr val="14202E"/>
                </a:solidFill>
                <a:latin typeface="Segoe UI" panose="020B0502040204020203" pitchFamily="34" charset="0"/>
              </a:rPr>
              <a:t>Updated the page configuration, main heading and sidebar branding separately so the visible dashboard matched the intended title.</a:t>
            </a:r>
            <a:endParaRPr lang="en-IN" sz="900">
              <a:solidFill>
                <a:srgbClr val="14202E"/>
              </a:solidFill>
              <a:latin typeface="Segoe UI" panose="020B0502040204020203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3DFD6E9-3C60-E7B3-FA5C-78D20C48EDA5}"/>
              </a:ext>
            </a:extLst>
          </p:cNvPr>
          <p:cNvSpPr txBox="1"/>
          <p:nvPr/>
        </p:nvSpPr>
        <p:spPr>
          <a:xfrm>
            <a:off x="609600" y="6502400"/>
            <a:ext cx="63500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000">
                <a:solidFill>
                  <a:srgbClr val="455567"/>
                </a:solidFill>
                <a:latin typeface="Segoe UI" panose="020B0502040204020203" pitchFamily="34" charset="0"/>
              </a:rPr>
              <a:t>ClinicIQ  |  AI Growth &amp; Automation Associate task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3FC1933-A261-F026-3C03-A6DD3F44DCA2}"/>
              </a:ext>
            </a:extLst>
          </p:cNvPr>
          <p:cNvSpPr txBox="1"/>
          <p:nvPr/>
        </p:nvSpPr>
        <p:spPr>
          <a:xfrm>
            <a:off x="10972800" y="6502400"/>
            <a:ext cx="6096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IN" sz="1000">
                <a:solidFill>
                  <a:srgbClr val="455567"/>
                </a:solidFill>
                <a:latin typeface="Segoe UI" panose="020B0502040204020203" pitchFamily="34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8729648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979E063-5A79-27D4-7776-70C75A11DFD9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0E7C7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4B5599-BA94-C3F5-3CD2-D5A66280C355}"/>
              </a:ext>
            </a:extLst>
          </p:cNvPr>
          <p:cNvSpPr txBox="1"/>
          <p:nvPr/>
        </p:nvSpPr>
        <p:spPr>
          <a:xfrm>
            <a:off x="609600" y="330200"/>
            <a:ext cx="8890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200" b="1">
                <a:solidFill>
                  <a:srgbClr val="0E7C7B"/>
                </a:solidFill>
                <a:latin typeface="Segoe UI" panose="020B0502040204020203" pitchFamily="34" charset="0"/>
              </a:rPr>
              <a:t>5  |  FINAL OUTCOME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9F77BB-6200-A6E8-72E5-EEEF8DA6D1D0}"/>
              </a:ext>
            </a:extLst>
          </p:cNvPr>
          <p:cNvSpPr txBox="1"/>
          <p:nvPr/>
        </p:nvSpPr>
        <p:spPr>
          <a:xfrm>
            <a:off x="609600" y="584200"/>
            <a:ext cx="10972800" cy="558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800" b="1">
                <a:solidFill>
                  <a:srgbClr val="0F1F2E"/>
                </a:solidFill>
                <a:latin typeface="Segoe UI" panose="020B0502040204020203" pitchFamily="34" charset="0"/>
              </a:rPr>
              <a:t>What the finished project does</a:t>
            </a:r>
            <a:endParaRPr lang="en-IN" sz="2800" b="1">
              <a:solidFill>
                <a:srgbClr val="0F1F2E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D44D31D-CC47-61C3-A22E-9BA4734EF5DC}"/>
              </a:ext>
            </a:extLst>
          </p:cNvPr>
          <p:cNvSpPr/>
          <p:nvPr/>
        </p:nvSpPr>
        <p:spPr>
          <a:xfrm>
            <a:off x="609600" y="1498600"/>
            <a:ext cx="3454400" cy="215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2A3387-A132-136C-668A-6ADFE0648E1A}"/>
              </a:ext>
            </a:extLst>
          </p:cNvPr>
          <p:cNvSpPr txBox="1"/>
          <p:nvPr/>
        </p:nvSpPr>
        <p:spPr>
          <a:xfrm>
            <a:off x="838200" y="1676400"/>
            <a:ext cx="29972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600" b="1">
                <a:solidFill>
                  <a:srgbClr val="0F1F2E"/>
                </a:solidFill>
                <a:latin typeface="Segoe UI" panose="020B0502040204020203" pitchFamily="34" charset="0"/>
              </a:rPr>
              <a:t>Directory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5CDF98-A43C-6E72-D973-B7C9005DB340}"/>
              </a:ext>
            </a:extLst>
          </p:cNvPr>
          <p:cNvSpPr txBox="1"/>
          <p:nvPr/>
        </p:nvSpPr>
        <p:spPr>
          <a:xfrm>
            <a:off x="838200" y="2082800"/>
            <a:ext cx="2997200" cy="1422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en-US" sz="1300">
                <a:solidFill>
                  <a:srgbClr val="14202E"/>
                </a:solidFill>
                <a:latin typeface="Segoe UI" panose="020B0502040204020203" pitchFamily="34" charset="0"/>
              </a:rPr>
              <a:t>Browse stored practices. Filter by state and billing policy, or search by name or suburb.</a:t>
            </a:r>
            <a:endParaRPr lang="en-IN" sz="1300">
              <a:solidFill>
                <a:srgbClr val="14202E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68EF8DE-D15D-7D9B-9037-9FD05A00DBF6}"/>
              </a:ext>
            </a:extLst>
          </p:cNvPr>
          <p:cNvSpPr/>
          <p:nvPr/>
        </p:nvSpPr>
        <p:spPr>
          <a:xfrm>
            <a:off x="4318000" y="1498600"/>
            <a:ext cx="3454400" cy="215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7B023C-251E-4CB0-A12A-B887FF5D75D5}"/>
              </a:ext>
            </a:extLst>
          </p:cNvPr>
          <p:cNvSpPr txBox="1"/>
          <p:nvPr/>
        </p:nvSpPr>
        <p:spPr>
          <a:xfrm>
            <a:off x="4546600" y="1676400"/>
            <a:ext cx="29972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600" b="1">
                <a:solidFill>
                  <a:srgbClr val="0F1F2E"/>
                </a:solidFill>
                <a:latin typeface="Segoe UI" panose="020B0502040204020203" pitchFamily="34" charset="0"/>
              </a:rPr>
              <a:t>Data ingestion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051C74-3046-E596-6B57-6AEA1A332A27}"/>
              </a:ext>
            </a:extLst>
          </p:cNvPr>
          <p:cNvSpPr txBox="1"/>
          <p:nvPr/>
        </p:nvSpPr>
        <p:spPr>
          <a:xfrm>
            <a:off x="4546600" y="2082800"/>
            <a:ext cx="2997200" cy="1422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en-US" sz="1300">
                <a:solidFill>
                  <a:srgbClr val="14202E"/>
                </a:solidFill>
                <a:latin typeface="Segoe UI" panose="020B0502040204020203" pitchFamily="34" charset="0"/>
              </a:rPr>
              <a:t>Scrape a clinic website and add it to the database. A separate simulator creates sample records.</a:t>
            </a:r>
            <a:endParaRPr lang="en-IN" sz="1300">
              <a:solidFill>
                <a:srgbClr val="14202E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B7CBDCA-B07D-8990-8EB8-239FE0001B61}"/>
              </a:ext>
            </a:extLst>
          </p:cNvPr>
          <p:cNvSpPr/>
          <p:nvPr/>
        </p:nvSpPr>
        <p:spPr>
          <a:xfrm>
            <a:off x="8026400" y="1498600"/>
            <a:ext cx="3454400" cy="215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6B4C06-D7D7-04A3-7F77-96F08C161781}"/>
              </a:ext>
            </a:extLst>
          </p:cNvPr>
          <p:cNvSpPr txBox="1"/>
          <p:nvPr/>
        </p:nvSpPr>
        <p:spPr>
          <a:xfrm>
            <a:off x="8255000" y="1676400"/>
            <a:ext cx="29972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600" b="1">
                <a:solidFill>
                  <a:srgbClr val="0F1F2E"/>
                </a:solidFill>
                <a:latin typeface="Segoe UI" panose="020B0502040204020203" pitchFamily="34" charset="0"/>
              </a:rPr>
              <a:t>AI analysis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94D3594-517C-56A6-4CA6-FCACFFE32D79}"/>
              </a:ext>
            </a:extLst>
          </p:cNvPr>
          <p:cNvSpPr txBox="1"/>
          <p:nvPr/>
        </p:nvSpPr>
        <p:spPr>
          <a:xfrm>
            <a:off x="8255000" y="2082800"/>
            <a:ext cx="2997200" cy="1422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en-US" sz="1300">
                <a:solidFill>
                  <a:srgbClr val="14202E"/>
                </a:solidFill>
                <a:latin typeface="Segoe UI" panose="020B0502040204020203" pitchFamily="34" charset="0"/>
              </a:rPr>
              <a:t>A lead score from 50 to 99, the reasoning, a short list of operational gaps and a recommended pitch angle.</a:t>
            </a:r>
            <a:endParaRPr lang="en-IN" sz="1300">
              <a:solidFill>
                <a:srgbClr val="14202E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1473140-3258-FEB7-8FE7-BE77FF2F10D5}"/>
              </a:ext>
            </a:extLst>
          </p:cNvPr>
          <p:cNvSpPr/>
          <p:nvPr/>
        </p:nvSpPr>
        <p:spPr>
          <a:xfrm>
            <a:off x="609600" y="3860800"/>
            <a:ext cx="3454400" cy="215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727CB6-AB8B-BE83-8826-599F2C991CCA}"/>
              </a:ext>
            </a:extLst>
          </p:cNvPr>
          <p:cNvSpPr txBox="1"/>
          <p:nvPr/>
        </p:nvSpPr>
        <p:spPr>
          <a:xfrm>
            <a:off x="838200" y="4038600"/>
            <a:ext cx="29972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600" b="1">
                <a:solidFill>
                  <a:srgbClr val="0F1F2E"/>
                </a:solidFill>
                <a:latin typeface="Segoe UI" panose="020B0502040204020203" pitchFamily="34" charset="0"/>
              </a:rPr>
              <a:t>Outreach engine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D120C87-9D04-B206-8BF4-F424E5975B31}"/>
              </a:ext>
            </a:extLst>
          </p:cNvPr>
          <p:cNvSpPr txBox="1"/>
          <p:nvPr/>
        </p:nvSpPr>
        <p:spPr>
          <a:xfrm>
            <a:off x="838200" y="4445000"/>
            <a:ext cx="2997200" cy="1422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en-US" sz="1300">
                <a:solidFill>
                  <a:srgbClr val="14202E"/>
                </a:solidFill>
                <a:latin typeface="Segoe UI" panose="020B0502040204020203" pitchFamily="34" charset="0"/>
              </a:rPr>
              <a:t>Three campaign types: recruitment, front-desk automation and allied health. Each gives a subject, body and follow-up.</a:t>
            </a:r>
            <a:endParaRPr lang="en-IN" sz="1300">
              <a:solidFill>
                <a:srgbClr val="14202E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93165E5-1EF6-9F4B-F326-73835D1D104F}"/>
              </a:ext>
            </a:extLst>
          </p:cNvPr>
          <p:cNvSpPr/>
          <p:nvPr/>
        </p:nvSpPr>
        <p:spPr>
          <a:xfrm>
            <a:off x="4318000" y="3860800"/>
            <a:ext cx="3454400" cy="215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01D0673-F2BE-4A7F-977B-650CFDBE75FD}"/>
              </a:ext>
            </a:extLst>
          </p:cNvPr>
          <p:cNvSpPr txBox="1"/>
          <p:nvPr/>
        </p:nvSpPr>
        <p:spPr>
          <a:xfrm>
            <a:off x="4546600" y="4038600"/>
            <a:ext cx="29972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600" b="1">
                <a:solidFill>
                  <a:srgbClr val="0F1F2E"/>
                </a:solidFill>
                <a:latin typeface="Segoe UI" panose="020B0502040204020203" pitchFamily="34" charset="0"/>
              </a:rPr>
              <a:t>Prompt lab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CBF49F2-C787-0BE0-FDFD-C813481BC9E8}"/>
              </a:ext>
            </a:extLst>
          </p:cNvPr>
          <p:cNvSpPr txBox="1"/>
          <p:nvPr/>
        </p:nvSpPr>
        <p:spPr>
          <a:xfrm>
            <a:off x="4546600" y="4445000"/>
            <a:ext cx="2997200" cy="1422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en-US" sz="1300">
                <a:solidFill>
                  <a:srgbClr val="14202E"/>
                </a:solidFill>
                <a:latin typeface="Segoe UI" panose="020B0502040204020203" pitchFamily="34" charset="0"/>
              </a:rPr>
              <a:t>Shows the system prompt and the three prompt versions inside the app.</a:t>
            </a:r>
            <a:endParaRPr lang="en-IN" sz="1300">
              <a:solidFill>
                <a:srgbClr val="14202E"/>
              </a:solidFill>
              <a:latin typeface="Segoe UI" panose="020B0502040204020203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89CF678-6CF5-AFBD-8839-9E5F54D14BC8}"/>
              </a:ext>
            </a:extLst>
          </p:cNvPr>
          <p:cNvSpPr/>
          <p:nvPr/>
        </p:nvSpPr>
        <p:spPr>
          <a:xfrm>
            <a:off x="8026400" y="3860800"/>
            <a:ext cx="3454400" cy="215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92B1989-22EA-14E6-AFCA-53C96207A714}"/>
              </a:ext>
            </a:extLst>
          </p:cNvPr>
          <p:cNvSpPr txBox="1"/>
          <p:nvPr/>
        </p:nvSpPr>
        <p:spPr>
          <a:xfrm>
            <a:off x="8255000" y="4038600"/>
            <a:ext cx="29972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600" b="1">
                <a:solidFill>
                  <a:srgbClr val="0F1F2E"/>
                </a:solidFill>
                <a:latin typeface="Segoe UI" panose="020B0502040204020203" pitchFamily="34" charset="0"/>
              </a:rPr>
              <a:t>Analytics and export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2E0F1CF-A3E6-4A6A-DB82-32275290CEAB}"/>
              </a:ext>
            </a:extLst>
          </p:cNvPr>
          <p:cNvSpPr txBox="1"/>
          <p:nvPr/>
        </p:nvSpPr>
        <p:spPr>
          <a:xfrm>
            <a:off x="8255000" y="4445000"/>
            <a:ext cx="2997200" cy="1422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700"/>
              </a:spcAft>
            </a:pPr>
            <a:r>
              <a:rPr lang="en-US" sz="1300">
                <a:solidFill>
                  <a:srgbClr val="14202E"/>
                </a:solidFill>
                <a:latin typeface="Segoe UI" panose="020B0502040204020203" pitchFamily="34" charset="0"/>
              </a:rPr>
              <a:t>Charts for billing model and state, a database table, a CSV download of all records and a JSON export for one email.</a:t>
            </a:r>
            <a:endParaRPr lang="en-IN" sz="1300">
              <a:solidFill>
                <a:srgbClr val="14202E"/>
              </a:solidFill>
              <a:latin typeface="Segoe UI" panose="020B0502040204020203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49A2882-0CBA-16E3-D28B-E4045D7EA28C}"/>
              </a:ext>
            </a:extLst>
          </p:cNvPr>
          <p:cNvSpPr txBox="1"/>
          <p:nvPr/>
        </p:nvSpPr>
        <p:spPr>
          <a:xfrm>
            <a:off x="609600" y="6502400"/>
            <a:ext cx="63500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000">
                <a:solidFill>
                  <a:srgbClr val="455567"/>
                </a:solidFill>
                <a:latin typeface="Segoe UI" panose="020B0502040204020203" pitchFamily="34" charset="0"/>
              </a:rPr>
              <a:t>ClinicIQ  |  AI Growth &amp; Automation Associate task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714D162-55E8-C6B1-B158-2F5A664754E9}"/>
              </a:ext>
            </a:extLst>
          </p:cNvPr>
          <p:cNvSpPr txBox="1"/>
          <p:nvPr/>
        </p:nvSpPr>
        <p:spPr>
          <a:xfrm>
            <a:off x="10972800" y="6502400"/>
            <a:ext cx="6096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IN" sz="1000">
                <a:solidFill>
                  <a:srgbClr val="455567"/>
                </a:solidFill>
                <a:latin typeface="Segoe UI" panose="020B0502040204020203" pitchFamily="34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975856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4BBCA79-6D89-506C-C182-15882CEF4E77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0E7C7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73F7FD-7856-4751-1043-5061745CAF0E}"/>
              </a:ext>
            </a:extLst>
          </p:cNvPr>
          <p:cNvSpPr txBox="1"/>
          <p:nvPr/>
        </p:nvSpPr>
        <p:spPr>
          <a:xfrm>
            <a:off x="609600" y="330200"/>
            <a:ext cx="8890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200" b="1">
                <a:solidFill>
                  <a:srgbClr val="0E7C7B"/>
                </a:solidFill>
                <a:latin typeface="Segoe UI" panose="020B0502040204020203" pitchFamily="34" charset="0"/>
              </a:rPr>
              <a:t>5  |  FINAL OUTCOME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41D3E1-B41A-F2E1-91E9-668372B45A8F}"/>
              </a:ext>
            </a:extLst>
          </p:cNvPr>
          <p:cNvSpPr txBox="1"/>
          <p:nvPr/>
        </p:nvSpPr>
        <p:spPr>
          <a:xfrm>
            <a:off x="609600" y="584200"/>
            <a:ext cx="10972800" cy="558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800" b="1">
                <a:solidFill>
                  <a:srgbClr val="0F1F2E"/>
                </a:solidFill>
                <a:latin typeface="Segoe UI" panose="020B0502040204020203" pitchFamily="34" charset="0"/>
              </a:rPr>
              <a:t>Limits and what to verify</a:t>
            </a:r>
            <a:endParaRPr lang="en-IN" sz="2800" b="1">
              <a:solidFill>
                <a:srgbClr val="0F1F2E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084CC69-32AE-F865-5662-60A97B650ABA}"/>
              </a:ext>
            </a:extLst>
          </p:cNvPr>
          <p:cNvSpPr/>
          <p:nvPr/>
        </p:nvSpPr>
        <p:spPr>
          <a:xfrm>
            <a:off x="609600" y="1498600"/>
            <a:ext cx="10972800" cy="4445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13C3E2-273F-1876-4A7C-D95B4F0A80EB}"/>
              </a:ext>
            </a:extLst>
          </p:cNvPr>
          <p:cNvSpPr txBox="1"/>
          <p:nvPr/>
        </p:nvSpPr>
        <p:spPr>
          <a:xfrm>
            <a:off x="838200" y="1676400"/>
            <a:ext cx="105156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 b="1">
                <a:solidFill>
                  <a:srgbClr val="0F1F2E"/>
                </a:solidFill>
                <a:latin typeface="Segoe UI" panose="020B0502040204020203" pitchFamily="34" charset="0"/>
              </a:rPr>
              <a:t>Before relying on any result</a:t>
            </a:r>
            <a:endParaRPr lang="en-IN" sz="1600" b="1">
              <a:solidFill>
                <a:srgbClr val="0F1F2E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F905F6-B73B-D742-A456-1AEE16A1BC4C}"/>
              </a:ext>
            </a:extLst>
          </p:cNvPr>
          <p:cNvSpPr txBox="1"/>
          <p:nvPr/>
        </p:nvSpPr>
        <p:spPr>
          <a:xfrm>
            <a:off x="838200" y="2082800"/>
            <a:ext cx="10515600" cy="3708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177800" indent="-177800">
              <a:spcAft>
                <a:spcPts val="700"/>
              </a:spcAft>
              <a:buFont typeface="+mj-lt"/>
              <a:buChar char="•"/>
            </a:pPr>
            <a:r>
              <a:rPr lang="en-US" sz="1500">
                <a:solidFill>
                  <a:srgbClr val="14202E"/>
                </a:solidFill>
                <a:latin typeface="Segoe UI" panose="020B0502040204020203" pitchFamily="34" charset="0"/>
              </a:rPr>
              <a:t>Directory search creates simulated sample records. They are not real listings.</a:t>
            </a:r>
          </a:p>
          <a:p>
            <a:pPr marL="177800" indent="-177800">
              <a:spcAft>
                <a:spcPts val="700"/>
              </a:spcAft>
              <a:buFont typeface="+mj-lt"/>
              <a:buChar char="•"/>
            </a:pPr>
            <a:r>
              <a:rPr lang="en-US" sz="1500">
                <a:solidFill>
                  <a:srgbClr val="14202E"/>
                </a:solidFill>
                <a:latin typeface="Segoe UI" panose="020B0502040204020203" pitchFamily="34" charset="0"/>
              </a:rPr>
              <a:t>The scraper uses keyword rules. If it cannot find a state or postcode it fills in QLD and 4226, and it works out opening hours from keywords.</a:t>
            </a:r>
          </a:p>
          <a:p>
            <a:pPr marL="177800" indent="-177800">
              <a:spcAft>
                <a:spcPts val="700"/>
              </a:spcAft>
              <a:buFont typeface="+mj-lt"/>
              <a:buChar char="•"/>
            </a:pPr>
            <a:r>
              <a:rPr lang="en-US" sz="1500">
                <a:solidFill>
                  <a:srgbClr val="14202E"/>
                </a:solidFill>
                <a:latin typeface="Segoe UI" panose="020B0502040204020203" pitchFamily="34" charset="0"/>
              </a:rPr>
              <a:t>If a website cannot be reached, the scraper returns placeholder values, so every extracted detail needs checking against the real site.</a:t>
            </a:r>
          </a:p>
          <a:p>
            <a:pPr marL="177800" indent="-177800">
              <a:spcAft>
                <a:spcPts val="700"/>
              </a:spcAft>
              <a:buFont typeface="+mj-lt"/>
              <a:buChar char="•"/>
            </a:pPr>
            <a:r>
              <a:rPr lang="en-US" sz="1500">
                <a:solidFill>
                  <a:srgbClr val="14202E"/>
                </a:solidFill>
                <a:latin typeface="Segoe UI" panose="020B0502040204020203" pitchFamily="34" charset="0"/>
              </a:rPr>
              <a:t>Without an OpenAI key, scoring and emails come from rule-based logic and templates.</a:t>
            </a:r>
          </a:p>
          <a:p>
            <a:pPr marL="177800" indent="-177800">
              <a:spcAft>
                <a:spcPts val="700"/>
              </a:spcAft>
              <a:buFont typeface="+mj-lt"/>
              <a:buChar char="•"/>
            </a:pPr>
            <a:r>
              <a:rPr lang="en-US" sz="1500">
                <a:solidFill>
                  <a:srgbClr val="14202E"/>
                </a:solidFill>
                <a:latin typeface="Segoe UI" panose="020B0502040204020203" pitchFamily="34" charset="0"/>
              </a:rPr>
              <a:t>Every email draft should be reviewed by a person before it is sent.</a:t>
            </a:r>
            <a:endParaRPr lang="en-IN" sz="1500">
              <a:solidFill>
                <a:srgbClr val="14202E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7B4950-3CC3-4033-AA62-3EE455FECEC7}"/>
              </a:ext>
            </a:extLst>
          </p:cNvPr>
          <p:cNvSpPr txBox="1"/>
          <p:nvPr/>
        </p:nvSpPr>
        <p:spPr>
          <a:xfrm>
            <a:off x="609600" y="6502400"/>
            <a:ext cx="63500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IN" sz="1000">
                <a:solidFill>
                  <a:srgbClr val="455567"/>
                </a:solidFill>
                <a:latin typeface="Segoe UI" panose="020B0502040204020203" pitchFamily="34" charset="0"/>
              </a:rPr>
              <a:t>ClinicIQ  |  AI Growth &amp; Automation Associate task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CF7814-A81C-CEAD-3524-E22A30217D2B}"/>
              </a:ext>
            </a:extLst>
          </p:cNvPr>
          <p:cNvSpPr txBox="1"/>
          <p:nvPr/>
        </p:nvSpPr>
        <p:spPr>
          <a:xfrm>
            <a:off x="10972800" y="6502400"/>
            <a:ext cx="6096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IN" sz="1000">
                <a:solidFill>
                  <a:srgbClr val="455567"/>
                </a:solidFill>
                <a:latin typeface="Segoe UI" panose="020B0502040204020203" pitchFamily="34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5927551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1147</Words>
  <Application>Microsoft Office PowerPoint</Application>
  <PresentationFormat>Widescreen</PresentationFormat>
  <Paragraphs>135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 S D SRINIVAS AKULA</dc:creator>
  <cp:lastModifiedBy>P S D SRINIVAS AKULA</cp:lastModifiedBy>
  <cp:revision>1</cp:revision>
  <dcterms:created xsi:type="dcterms:W3CDTF">2026-10-27T18:02:49Z</dcterms:created>
  <dcterms:modified xsi:type="dcterms:W3CDTF">2026-10-29T08:35:07Z</dcterms:modified>
</cp:coreProperties>
</file>